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Inter"/>
      <p:regular r:id="rId31"/>
      <p:bold r:id="rId32"/>
      <p:italic r:id="rId33"/>
      <p:boldItalic r:id="rId34"/>
    </p:embeddedFont>
    <p:embeddedFont>
      <p:font typeface="Roboto Mono"/>
      <p:regular r:id="rId35"/>
      <p:bold r:id="rId36"/>
      <p:italic r:id="rId37"/>
      <p:boldItalic r:id="rId38"/>
    </p:embeddedFont>
    <p:embeddedFont>
      <p:font typeface="Inter Medium"/>
      <p:regular r:id="rId39"/>
      <p:bold r:id="rId40"/>
      <p:italic r:id="rId41"/>
      <p:boldItalic r:id="rId42"/>
    </p:embeddedFont>
    <p:embeddedFont>
      <p:font typeface="Inter Black"/>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hdOv6sZ3juM6gjdi+Q6IfLEdcv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EA327A-96FC-4A75-9489-5FF36F40FD03}">
  <a:tblStyle styleId="{57EA327A-96FC-4A75-9489-5FF36F40FD0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InterMedium-bold.fntdata"/><Relationship Id="rId20" Type="http://schemas.openxmlformats.org/officeDocument/2006/relationships/slide" Target="slides/slide15.xml"/><Relationship Id="rId42" Type="http://schemas.openxmlformats.org/officeDocument/2006/relationships/font" Target="fonts/InterMedium-boldItalic.fntdata"/><Relationship Id="rId41" Type="http://schemas.openxmlformats.org/officeDocument/2006/relationships/font" Target="fonts/InterMedium-italic.fntdata"/><Relationship Id="rId22" Type="http://schemas.openxmlformats.org/officeDocument/2006/relationships/slide" Target="slides/slide17.xml"/><Relationship Id="rId44" Type="http://schemas.openxmlformats.org/officeDocument/2006/relationships/font" Target="fonts/InterBlack-boldItalic.fntdata"/><Relationship Id="rId21" Type="http://schemas.openxmlformats.org/officeDocument/2006/relationships/slide" Target="slides/slide16.xml"/><Relationship Id="rId43" Type="http://schemas.openxmlformats.org/officeDocument/2006/relationships/font" Target="fonts/InterBlack-bold.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Inter-italic.fntdata"/><Relationship Id="rId10" Type="http://schemas.openxmlformats.org/officeDocument/2006/relationships/slide" Target="slides/slide5.xml"/><Relationship Id="rId32" Type="http://schemas.openxmlformats.org/officeDocument/2006/relationships/font" Target="fonts/Inter-bold.fntdata"/><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font" Target="fonts/Inter-boldItalic.fntdata"/><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39" Type="http://schemas.openxmlformats.org/officeDocument/2006/relationships/font" Target="fonts/InterMedium-regular.fntdata"/><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9:notes"/>
          <p:cNvSpPr txBox="1"/>
          <p:nvPr>
            <p:ph idx="1" type="body"/>
          </p:nvPr>
        </p:nvSpPr>
        <p:spPr>
          <a:xfrm>
            <a:off x="701040" y="4473892"/>
            <a:ext cx="5608320" cy="3660458"/>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62" name="Google Shape;62;p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a9f8ea407_0_18: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71" name="Google Shape;71;g3da9f8ea407_0_1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ab3b0c0e2_0_475: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82" name="Google Shape;82;g3dab3b0c0e2_0_47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a9f8ea40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a9f8ea40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a9f8ea40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ab3b0c0e2_0_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ab3b0c0e2_0_5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dab3b0c0e2_0_5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a9f8ea407_0_25: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113" name="Google Shape;113;g3da9f8ea407_0_2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ad1f596eb_3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ad1f596eb_3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updated Framework shows our five-stage pipeline for turning privacy policies into knowledge graphs with a privacy policy overlay. </a:t>
            </a:r>
            <a:endParaRPr/>
          </a:p>
          <a:p>
            <a:pPr indent="0" lvl="0" marL="0" rtl="0" algn="l">
              <a:spcBef>
                <a:spcPts val="0"/>
              </a:spcBef>
              <a:spcAft>
                <a:spcPts val="0"/>
              </a:spcAft>
              <a:buNone/>
            </a:pPr>
            <a:r>
              <a:rPr lang="en-US"/>
              <a:t>We start by collecting data from 184 S&amp;P 500 companies in Healthcare, IT, and Financial Services. </a:t>
            </a:r>
            <a:endParaRPr/>
          </a:p>
          <a:p>
            <a:pPr indent="0" lvl="0" marL="0" rtl="0" algn="l">
              <a:spcBef>
                <a:spcPts val="0"/>
              </a:spcBef>
              <a:spcAft>
                <a:spcPts val="0"/>
              </a:spcAft>
              <a:buNone/>
            </a:pPr>
            <a:r>
              <a:rPr lang="en-US"/>
              <a:t>Next, we normalize and filter the data.</a:t>
            </a:r>
            <a:endParaRPr/>
          </a:p>
          <a:p>
            <a:pPr indent="0" lvl="0" marL="0" rtl="0" algn="l">
              <a:spcBef>
                <a:spcPts val="0"/>
              </a:spcBef>
              <a:spcAft>
                <a:spcPts val="0"/>
              </a:spcAft>
              <a:buNone/>
            </a:pPr>
            <a:r>
              <a:rPr lang="en-US"/>
              <a:t>We then extract key relationships using quadruples: company, entity, category, and data point.</a:t>
            </a:r>
            <a:endParaRPr/>
          </a:p>
          <a:p>
            <a:pPr indent="0" lvl="0" marL="0" rtl="0" algn="l">
              <a:spcBef>
                <a:spcPts val="0"/>
              </a:spcBef>
              <a:spcAft>
                <a:spcPts val="0"/>
              </a:spcAft>
              <a:buNone/>
            </a:pPr>
            <a:r>
              <a:rPr lang="en-US"/>
              <a:t>After that, we build unified sector-level knowledge graphs.</a:t>
            </a:r>
            <a:endParaRPr/>
          </a:p>
          <a:p>
            <a:pPr indent="0" lvl="0" marL="0" rtl="0" algn="l">
              <a:spcBef>
                <a:spcPts val="0"/>
              </a:spcBef>
              <a:spcAft>
                <a:spcPts val="0"/>
              </a:spcAft>
              <a:buNone/>
            </a:pPr>
            <a:r>
              <a:rPr lang="en-US"/>
              <a:t>Finally, we apply analytics and map regulations like GDPR, CCPA, and HIPAA for sector comparison.</a:t>
            </a:r>
            <a:endParaRPr/>
          </a:p>
          <a:p>
            <a:pPr indent="0" lvl="0" marL="0" rtl="0" algn="l">
              <a:spcBef>
                <a:spcPts val="0"/>
              </a:spcBef>
              <a:spcAft>
                <a:spcPts val="0"/>
              </a:spcAft>
              <a:buNone/>
            </a:pPr>
            <a:r>
              <a:t/>
            </a:r>
            <a:endParaRPr/>
          </a:p>
        </p:txBody>
      </p:sp>
      <p:sp>
        <p:nvSpPr>
          <p:cNvPr id="122" name="Google Shape;122;g3dad1f596eb_3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a9f8ea407_0_10: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133" name="Google Shape;133;g3da9f8ea407_0_1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a9f8ea407_0_33: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143" name="Google Shape;143;g3da9f8ea407_0_3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ab3b0c0e2_0_5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ab3b0c0e2_0_5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graph reveals sector connections on data type with a regulation overlay based on the three privacy regulations, GDPR, CCPA, and HIPPA. For example, person name is common to all sectors  and present in all regulations indicating broad compliance within sectors.  Conversely, browsing/search history </a:t>
            </a:r>
            <a:r>
              <a:rPr lang="en-US"/>
              <a:t>is commmon to all sectors, but not present in the regulations. This highlights potential concerns with why companies are capturing history and what they are doing with the data. Username is another example of a data type common to all sectors but not specifically named in the regulation. This raises a separate concern about regulation complexity. In the case of GDRP, for example, username is not directly referenced but it is regulated under personal data if, and only if,  it includes personally identifying information like name or unique email address (add section from GDPR for reference)</a:t>
            </a:r>
            <a:endParaRPr/>
          </a:p>
        </p:txBody>
      </p:sp>
      <p:sp>
        <p:nvSpPr>
          <p:cNvPr id="153" name="Google Shape;153;g3dab3b0c0e2_0_5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ab3b0c0e2_0_830: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rPr lang="en-US"/>
              <a:t>The top 6 rows are the universal digital baseline — data types shared across all sectors, and the bottom 3 rows are where sectors diverge on sensitive identifiers. </a:t>
            </a:r>
            <a:endParaRPr/>
          </a:p>
        </p:txBody>
      </p:sp>
      <p:sp>
        <p:nvSpPr>
          <p:cNvPr id="158" name="Google Shape;158;g3dab3b0c0e2_0_83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ab3b0c0e2_0_798: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rPr lang="en-US"/>
              <a:t>The top 6 rows are the universal digital baseline — data types shared across all sectors, and the bottom 3 rows are where sectors diverge on sensitive identifiers. </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The KG’s reveals the highest ranking data types by organizational sector. These are the distinctive data types that are most common in each sector. Interestingly, we observe that browsing/search history is present in the Financial sector, raising the question about why a financial institution would need this type of information on you. </a:t>
            </a:r>
            <a:endParaRPr/>
          </a:p>
        </p:txBody>
      </p:sp>
      <p:sp>
        <p:nvSpPr>
          <p:cNvPr id="167" name="Google Shape;167;g3dab3b0c0e2_0_79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ab3b0c0e2_0_551: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rPr lang="en-US"/>
              <a:t>HIPAA exposure is highest in Financial (81%) — counterintuitive, explained by overlap between financial identifiers (SSN, account number, date of birth) and HIPAA's 18 Safe Harbor identifiers. </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100"/>
              <a:buFont typeface="Arial"/>
              <a:buNone/>
            </a:pPr>
            <a:r>
              <a:rPr lang="en-US"/>
              <a:t>HIPAA exposure in IT is 77% — meaning 51 out of 66 IT companies collect data matching HIPAA identifiers even though they are not Healthcare companies</a:t>
            </a:r>
            <a:endParaRPr/>
          </a:p>
          <a:p>
            <a:pPr indent="0" lvl="0" marL="0" rtl="0" algn="l">
              <a:spcBef>
                <a:spcPts val="0"/>
              </a:spcBef>
              <a:spcAft>
                <a:spcPts val="0"/>
              </a:spcAft>
              <a:buClr>
                <a:schemeClr val="dk1"/>
              </a:buClr>
              <a:buSzPts val="1100"/>
              <a:buFont typeface="Arial"/>
              <a:buNone/>
            </a:pPr>
            <a:r>
              <a:rPr lang="en-US"/>
              <a:t>HIPAA exposure in Financial is 81% — 50 out of 62 Financial companies are in HIPAA scope</a:t>
            </a:r>
            <a:endParaRPr/>
          </a:p>
          <a:p>
            <a:pPr indent="0" lvl="0" marL="0" rtl="0" algn="l">
              <a:spcBef>
                <a:spcPts val="0"/>
              </a:spcBef>
              <a:spcAft>
                <a:spcPts val="0"/>
              </a:spcAft>
              <a:buClr>
                <a:schemeClr val="dk1"/>
              </a:buClr>
              <a:buSzPts val="1100"/>
              <a:buFont typeface="Arial"/>
              <a:buNone/>
            </a:pPr>
            <a:r>
              <a:rPr lang="en-US"/>
              <a:t>This is counterintuitive and is your strongest finding</a:t>
            </a:r>
            <a:endParaRPr/>
          </a:p>
          <a:p>
            <a:pPr indent="0" lvl="0" marL="0" rtl="0" algn="l">
              <a:lnSpc>
                <a:spcPct val="100000"/>
              </a:lnSpc>
              <a:spcBef>
                <a:spcPts val="0"/>
              </a:spcBef>
              <a:spcAft>
                <a:spcPts val="0"/>
              </a:spcAft>
              <a:buSzPts val="1400"/>
              <a:buNone/>
            </a:pPr>
            <a:r>
              <a:t/>
            </a:r>
            <a:endParaRPr/>
          </a:p>
        </p:txBody>
      </p:sp>
      <p:sp>
        <p:nvSpPr>
          <p:cNvPr id="176" name="Google Shape;176;g3dab3b0c0e2_0_55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ab3b0c0e2_0_616: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15000"/>
              </a:lnSpc>
              <a:spcBef>
                <a:spcPts val="1200"/>
              </a:spcBef>
              <a:spcAft>
                <a:spcPts val="1200"/>
              </a:spcAft>
              <a:buSzPts val="1100"/>
              <a:buNone/>
            </a:pPr>
            <a:r>
              <a:rPr lang="en-US" sz="1500">
                <a:latin typeface="Arial"/>
                <a:ea typeface="Arial"/>
                <a:cs typeface="Arial"/>
                <a:sym typeface="Arial"/>
              </a:rPr>
              <a:t>Graph algorithms trace how data flows. BFS shows breadth — how much hides inside one </a:t>
            </a:r>
            <a:r>
              <a:rPr lang="en-US" sz="1500">
                <a:latin typeface="Arial"/>
                <a:ea typeface="Arial"/>
                <a:cs typeface="Arial"/>
                <a:sym typeface="Arial"/>
              </a:rPr>
              <a:t>umbrella</a:t>
            </a:r>
            <a:r>
              <a:rPr lang="en-US" sz="1500">
                <a:latin typeface="Arial"/>
                <a:ea typeface="Arial"/>
                <a:cs typeface="Arial"/>
                <a:sym typeface="Arial"/>
              </a:rPr>
              <a:t> term like “personal information”. DFS shows depth — or the lack of it. Shortest path confirms directness. All paths proves 1,142 ways vague language still reaches regulation. </a:t>
            </a:r>
            <a:endParaRPr sz="1600"/>
          </a:p>
        </p:txBody>
      </p:sp>
      <p:sp>
        <p:nvSpPr>
          <p:cNvPr id="185" name="Google Shape;185;g3dab3b0c0e2_0_61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ab3b0c0e2_0_695: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marR="381000" rtl="0" algn="l">
              <a:lnSpc>
                <a:spcPct val="115000"/>
              </a:lnSpc>
              <a:spcBef>
                <a:spcPts val="1200"/>
              </a:spcBef>
              <a:spcAft>
                <a:spcPts val="0"/>
              </a:spcAft>
              <a:buSzPts val="1100"/>
              <a:buNone/>
            </a:pPr>
            <a:r>
              <a:rPr lang="en-US" sz="1300">
                <a:latin typeface="Arial"/>
                <a:ea typeface="Arial"/>
                <a:cs typeface="Arial"/>
                <a:sym typeface="Arial"/>
              </a:rPr>
              <a:t>C</a:t>
            </a:r>
            <a:r>
              <a:rPr lang="en-US" sz="1300">
                <a:latin typeface="Arial"/>
                <a:ea typeface="Arial"/>
                <a:cs typeface="Arial"/>
                <a:sym typeface="Arial"/>
              </a:rPr>
              <a:t>entrality analysis reveals that "personal information" is structurally dominant across all three measures — highest PageRank, highest in-degree, and highest betweenness — confirming it functions as a universal catch-all disclosure mechanism. The entity "we" similarly dominates, indicating companies are the primary collectors in their own policies. Most critically, UNSPECIFIED_ACTOR's in-degree of 146 reveals that a substantial proportion of data collection edges cannot be attributed to a named party, representing the clearest compliance risk signal in the corpus.</a:t>
            </a:r>
            <a:endParaRPr sz="13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94" name="Google Shape;194;g3dab3b0c0e2_0_69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a9f8ea407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a9f8ea407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Knowledge graph displays a critical node of personal information and its connected subdata types and highlights the challenges of handling privacy regulation texts with different phrasing or identifying words for similar data types. It also highlights data types that are shared across all sectors or unique to various sectors. This reveals the importance of drilling down to lower levels of data for deeper investigation and identification.</a:t>
            </a:r>
            <a:endParaRPr/>
          </a:p>
          <a:p>
            <a:pPr indent="0" lvl="0" marL="0" rtl="0" algn="l">
              <a:spcBef>
                <a:spcPts val="0"/>
              </a:spcBef>
              <a:spcAft>
                <a:spcPts val="0"/>
              </a:spcAft>
              <a:buClr>
                <a:schemeClr val="dk1"/>
              </a:buClr>
              <a:buSzPts val="1100"/>
              <a:buFont typeface="Arial"/>
              <a:buNone/>
            </a:pPr>
            <a:r>
              <a:t/>
            </a:r>
            <a:endParaRPr/>
          </a:p>
        </p:txBody>
      </p:sp>
      <p:sp>
        <p:nvSpPr>
          <p:cNvPr id="204" name="Google Shape;204;g3da9f8ea407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ab3b0c0e2_0_6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ab3b0c0e2_0_6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300">
                <a:latin typeface="Arial"/>
                <a:ea typeface="Arial"/>
                <a:cs typeface="Arial"/>
                <a:sym typeface="Arial"/>
              </a:rPr>
              <a:t>Left:</a:t>
            </a:r>
            <a:r>
              <a:rPr lang="en-US" sz="1300">
                <a:latin typeface="Arial"/>
                <a:ea typeface="Arial"/>
                <a:cs typeface="Arial"/>
                <a:sym typeface="Arial"/>
              </a:rPr>
              <a:t> All three sectors are 77–89% exposed to every regulation — the differences between sectors are less than 10%, meaning no sector has a meaningfully higher compliance exposure than another. </a:t>
            </a:r>
            <a:r>
              <a:rPr lang="en-US" sz="1300">
                <a:latin typeface="Arial"/>
                <a:ea typeface="Arial"/>
                <a:cs typeface="Arial"/>
                <a:sym typeface="Arial"/>
              </a:rPr>
              <a:t>Since the Financial sector has other regulations it must comply with like the Gramm Leach Bliley Act and it is heavily regulated, that may account for the slightly higher rates of compliance exposure. </a:t>
            </a:r>
            <a:endParaRPr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300">
                <a:latin typeface="Arial"/>
                <a:ea typeface="Arial"/>
                <a:cs typeface="Arial"/>
                <a:sym typeface="Arial"/>
              </a:rPr>
              <a:t>Right:</a:t>
            </a:r>
            <a:r>
              <a:rPr lang="en-US" sz="1300">
                <a:latin typeface="Arial"/>
                <a:ea typeface="Arial"/>
                <a:cs typeface="Arial"/>
                <a:sym typeface="Arial"/>
              </a:rPr>
              <a:t> CCPA covers the most data types (68), most regulated types are shared across all three sectors (dark grey dominates every bar), and GDPR is the narrowest in scope (32 types) but still universal. This is </a:t>
            </a:r>
            <a:r>
              <a:rPr lang="en-US" sz="1300">
                <a:latin typeface="Arial"/>
                <a:ea typeface="Arial"/>
                <a:cs typeface="Arial"/>
                <a:sym typeface="Arial"/>
              </a:rPr>
              <a:t>surprising</a:t>
            </a:r>
            <a:r>
              <a:rPr lang="en-US" sz="1300">
                <a:latin typeface="Arial"/>
                <a:ea typeface="Arial"/>
                <a:cs typeface="Arial"/>
                <a:sym typeface="Arial"/>
              </a:rPr>
              <a:t> considering that GDPR is much longer than the other regulations, but it may be due to its complexity that the underlying meaning is more difficult to identify, such as in the example given earlier with browsing/search history. </a:t>
            </a:r>
            <a:endParaRPr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300">
                <a:latin typeface="Arial"/>
                <a:ea typeface="Arial"/>
                <a:cs typeface="Arial"/>
                <a:sym typeface="Arial"/>
              </a:rPr>
              <a:t> </a:t>
            </a:r>
            <a:endParaRPr sz="1300">
              <a:latin typeface="Arial"/>
              <a:ea typeface="Arial"/>
              <a:cs typeface="Arial"/>
              <a:sym typeface="Arial"/>
            </a:endParaRPr>
          </a:p>
          <a:p>
            <a:pPr indent="0" lvl="0" marL="0" rtl="0" algn="l">
              <a:spcBef>
                <a:spcPts val="1200"/>
              </a:spcBef>
              <a:spcAft>
                <a:spcPts val="0"/>
              </a:spcAft>
              <a:buNone/>
            </a:pPr>
            <a:r>
              <a:t/>
            </a:r>
            <a:endParaRPr sz="1400"/>
          </a:p>
        </p:txBody>
      </p:sp>
      <p:sp>
        <p:nvSpPr>
          <p:cNvPr id="210" name="Google Shape;210;g3dab3b0c0e2_0_6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ab3b0c0e2_0_590: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216" name="Google Shape;216;g3dab3b0c0e2_0_59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ab3b0c0e2_0_598: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rPr lang="en-US"/>
              <a:t>IT leads on tracking data, Financial on sensitive financial identifiers, Healthcare on regulated health-adjacent categories. </a:t>
            </a:r>
            <a:endParaRPr/>
          </a:p>
        </p:txBody>
      </p:sp>
      <p:sp>
        <p:nvSpPr>
          <p:cNvPr id="225" name="Google Shape;225;g3dab3b0c0e2_0_59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ab3b0c0e2_0_607: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rPr lang="en-US"/>
              <a:t>This chart extends the within sector </a:t>
            </a:r>
            <a:r>
              <a:rPr lang="en-US"/>
              <a:t>comparison to overlay the privacy regulations that reference the data type. For example, cookie pixel tag, the top item in IT and Financial sectors is only specifically related to GDPR in our KG edges, but not the CCPA or HIPPA regulation. That could be useful information to uncover as regulations change over time. </a:t>
            </a:r>
            <a:endParaRPr/>
          </a:p>
        </p:txBody>
      </p:sp>
      <p:sp>
        <p:nvSpPr>
          <p:cNvPr id="235" name="Google Shape;235;g3dab3b0c0e2_0_60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ab3b0c0e2_0_855: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244" name="Google Shape;244;g3dab3b0c0e2_0_85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54" name="Google Shape;25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a9f8ea407_0_49: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262" name="Google Shape;262;g3da9f8ea407_0_4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a9f8ea407_0_56:notes"/>
          <p:cNvSpPr txBox="1"/>
          <p:nvPr>
            <p:ph idx="1" type="body"/>
          </p:nvPr>
        </p:nvSpPr>
        <p:spPr>
          <a:xfrm>
            <a:off x="701040" y="4473892"/>
            <a:ext cx="5608200" cy="3660600"/>
          </a:xfrm>
          <a:prstGeom prst="rect">
            <a:avLst/>
          </a:prstGeom>
          <a:noFill/>
          <a:ln>
            <a:noFill/>
          </a:ln>
        </p:spPr>
        <p:txBody>
          <a:bodyPr anchorCtr="0" anchor="t" bIns="46550" lIns="93150" spcFirstLastPara="1" rIns="93150" wrap="square" tIns="46550">
            <a:noAutofit/>
          </a:bodyPr>
          <a:lstStyle/>
          <a:p>
            <a:pPr indent="0" lvl="0" marL="0" rtl="0" algn="l">
              <a:lnSpc>
                <a:spcPct val="100000"/>
              </a:lnSpc>
              <a:spcBef>
                <a:spcPts val="0"/>
              </a:spcBef>
              <a:spcAft>
                <a:spcPts val="0"/>
              </a:spcAft>
              <a:buSzPts val="1400"/>
              <a:buNone/>
            </a:pPr>
            <a:r>
              <a:t/>
            </a:r>
            <a:endParaRPr/>
          </a:p>
        </p:txBody>
      </p:sp>
      <p:sp>
        <p:nvSpPr>
          <p:cNvPr id="271" name="Google Shape;271;g3da9f8ea407_0_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1" name="Shape 11"/>
        <p:cNvGrpSpPr/>
        <p:nvPr/>
      </p:nvGrpSpPr>
      <p:grpSpPr>
        <a:xfrm>
          <a:off x="0" y="0"/>
          <a:ext cx="0" cy="0"/>
          <a:chOff x="0" y="0"/>
          <a:chExt cx="0" cy="0"/>
        </a:xfrm>
      </p:grpSpPr>
      <p:sp>
        <p:nvSpPr>
          <p:cNvPr id="12" name="Google Shape;12;g31b43a36e8f_0_0"/>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13" name="Shape 13"/>
        <p:cNvGrpSpPr/>
        <p:nvPr/>
      </p:nvGrpSpPr>
      <p:grpSpPr>
        <a:xfrm>
          <a:off x="0" y="0"/>
          <a:ext cx="0" cy="0"/>
          <a:chOff x="0" y="0"/>
          <a:chExt cx="0" cy="0"/>
        </a:xfrm>
      </p:grpSpPr>
      <p:pic>
        <p:nvPicPr>
          <p:cNvPr id="14" name="Google Shape;14;p17"/>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15" name="Google Shape;15;p17"/>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5_Custom Layout">
  <p:cSld name="55_Custom Layout">
    <p:spTree>
      <p:nvGrpSpPr>
        <p:cNvPr id="16" name="Shape 16"/>
        <p:cNvGrpSpPr/>
        <p:nvPr/>
      </p:nvGrpSpPr>
      <p:grpSpPr>
        <a:xfrm>
          <a:off x="0" y="0"/>
          <a:ext cx="0" cy="0"/>
          <a:chOff x="0" y="0"/>
          <a:chExt cx="0" cy="0"/>
        </a:xfrm>
      </p:grpSpPr>
      <p:sp>
        <p:nvSpPr>
          <p:cNvPr id="17" name="Google Shape;17;p18"/>
          <p:cNvSpPr/>
          <p:nvPr/>
        </p:nvSpPr>
        <p:spPr>
          <a:xfrm>
            <a:off x="0" y="0"/>
            <a:ext cx="45212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pic>
        <p:nvPicPr>
          <p:cNvPr id="18" name="Google Shape;18;p18"/>
          <p:cNvPicPr preferRelativeResize="0"/>
          <p:nvPr/>
        </p:nvPicPr>
        <p:blipFill rotWithShape="1">
          <a:blip r:embed="rId2">
            <a:alphaModFix/>
          </a:blip>
          <a:srcRect b="0" l="0" r="0" t="0"/>
          <a:stretch/>
        </p:blipFill>
        <p:spPr>
          <a:xfrm>
            <a:off x="99399" y="80876"/>
            <a:ext cx="2972047" cy="690475"/>
          </a:xfrm>
          <a:prstGeom prst="rect">
            <a:avLst/>
          </a:prstGeom>
          <a:noFill/>
          <a:ln>
            <a:noFill/>
          </a:ln>
        </p:spPr>
      </p:pic>
      <p:cxnSp>
        <p:nvCxnSpPr>
          <p:cNvPr id="19" name="Google Shape;19;p18"/>
          <p:cNvCxnSpPr/>
          <p:nvPr/>
        </p:nvCxnSpPr>
        <p:spPr>
          <a:xfrm>
            <a:off x="10930200" y="73152"/>
            <a:ext cx="1261800" cy="0"/>
          </a:xfrm>
          <a:prstGeom prst="straightConnector1">
            <a:avLst/>
          </a:prstGeom>
          <a:noFill/>
          <a:ln cap="flat" cmpd="sng" w="152400">
            <a:solidFill>
              <a:schemeClr val="accent2"/>
            </a:solidFill>
            <a:prstDash val="solid"/>
            <a:round/>
            <a:headEnd len="sm" w="sm" type="none"/>
            <a:tailEnd len="sm" w="sm" type="none"/>
          </a:ln>
        </p:spPr>
      </p:cxnSp>
      <p:cxnSp>
        <p:nvCxnSpPr>
          <p:cNvPr id="20" name="Google Shape;20;p18"/>
          <p:cNvCxnSpPr/>
          <p:nvPr/>
        </p:nvCxnSpPr>
        <p:spPr>
          <a:xfrm rot="5400000">
            <a:off x="11484900" y="630900"/>
            <a:ext cx="1261800" cy="0"/>
          </a:xfrm>
          <a:prstGeom prst="straightConnector1">
            <a:avLst/>
          </a:prstGeom>
          <a:noFill/>
          <a:ln cap="flat" cmpd="sng" w="152400">
            <a:solidFill>
              <a:schemeClr val="accent2"/>
            </a:solidFill>
            <a:prstDash val="solid"/>
            <a:round/>
            <a:headEnd len="sm" w="sm" type="none"/>
            <a:tailEnd len="sm" w="sm" type="none"/>
          </a:ln>
        </p:spPr>
      </p:cxnSp>
      <p:sp>
        <p:nvSpPr>
          <p:cNvPr id="21" name="Google Shape;21;p18"/>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9_Custom Layout">
  <p:cSld name="59_Custom Layout">
    <p:spTree>
      <p:nvGrpSpPr>
        <p:cNvPr id="22" name="Shape 22"/>
        <p:cNvGrpSpPr/>
        <p:nvPr/>
      </p:nvGrpSpPr>
      <p:grpSpPr>
        <a:xfrm>
          <a:off x="0" y="0"/>
          <a:ext cx="0" cy="0"/>
          <a:chOff x="0" y="0"/>
          <a:chExt cx="0" cy="0"/>
        </a:xfrm>
      </p:grpSpPr>
      <p:sp>
        <p:nvSpPr>
          <p:cNvPr id="23" name="Google Shape;23;p19"/>
          <p:cNvSpPr/>
          <p:nvPr/>
        </p:nvSpPr>
        <p:spPr>
          <a:xfrm>
            <a:off x="0" y="0"/>
            <a:ext cx="12192000" cy="562303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sp>
        <p:nvSpPr>
          <p:cNvPr id="24" name="Google Shape;24;p19"/>
          <p:cNvSpPr/>
          <p:nvPr/>
        </p:nvSpPr>
        <p:spPr>
          <a:xfrm>
            <a:off x="0" y="5623034"/>
            <a:ext cx="12192000" cy="22205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 name="Google Shape;25;p19"/>
          <p:cNvPicPr preferRelativeResize="0"/>
          <p:nvPr/>
        </p:nvPicPr>
        <p:blipFill rotWithShape="1">
          <a:blip r:embed="rId2">
            <a:alphaModFix/>
          </a:blip>
          <a:srcRect b="0" l="0" r="0" t="0"/>
          <a:stretch/>
        </p:blipFill>
        <p:spPr>
          <a:xfrm>
            <a:off x="99399" y="80877"/>
            <a:ext cx="2972047" cy="690475"/>
          </a:xfrm>
          <a:prstGeom prst="rect">
            <a:avLst/>
          </a:prstGeom>
          <a:noFill/>
          <a:ln>
            <a:noFill/>
          </a:ln>
        </p:spPr>
      </p:pic>
      <p:sp>
        <p:nvSpPr>
          <p:cNvPr id="26" name="Google Shape;26;p19"/>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_Custom Layout">
  <p:cSld name="49_Custom Layout">
    <p:spTree>
      <p:nvGrpSpPr>
        <p:cNvPr id="27" name="Shape 27"/>
        <p:cNvGrpSpPr/>
        <p:nvPr/>
      </p:nvGrpSpPr>
      <p:grpSpPr>
        <a:xfrm>
          <a:off x="0" y="0"/>
          <a:ext cx="0" cy="0"/>
          <a:chOff x="0" y="0"/>
          <a:chExt cx="0" cy="0"/>
        </a:xfrm>
      </p:grpSpPr>
      <p:sp>
        <p:nvSpPr>
          <p:cNvPr id="28" name="Google Shape;28;p30"/>
          <p:cNvSpPr/>
          <p:nvPr>
            <p:ph idx="2" type="pic"/>
          </p:nvPr>
        </p:nvSpPr>
        <p:spPr>
          <a:xfrm>
            <a:off x="2311400" y="1577029"/>
            <a:ext cx="4699000" cy="3703941"/>
          </a:xfrm>
          <a:prstGeom prst="rect">
            <a:avLst/>
          </a:prstGeom>
          <a:solidFill>
            <a:schemeClr val="lt1"/>
          </a:solidFill>
          <a:ln>
            <a:noFill/>
          </a:ln>
        </p:spPr>
      </p:sp>
      <p:pic>
        <p:nvPicPr>
          <p:cNvPr id="29" name="Google Shape;29;p30"/>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30" name="Google Shape;30;p30"/>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7_Custom Layout">
  <p:cSld name="57_Custom Layout">
    <p:spTree>
      <p:nvGrpSpPr>
        <p:cNvPr id="31" name="Shape 31"/>
        <p:cNvGrpSpPr/>
        <p:nvPr/>
      </p:nvGrpSpPr>
      <p:grpSpPr>
        <a:xfrm>
          <a:off x="0" y="0"/>
          <a:ext cx="0" cy="0"/>
          <a:chOff x="0" y="0"/>
          <a:chExt cx="0" cy="0"/>
        </a:xfrm>
      </p:grpSpPr>
      <p:pic>
        <p:nvPicPr>
          <p:cNvPr id="32" name="Google Shape;32;p20"/>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33" name="Google Shape;33;p20"/>
          <p:cNvSpPr/>
          <p:nvPr/>
        </p:nvSpPr>
        <p:spPr>
          <a:xfrm rot="-5400000">
            <a:off x="10840034" y="5506035"/>
            <a:ext cx="1345678" cy="1358253"/>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 name="Google Shape;34;p20"/>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Custom Layout">
  <p:cSld name="47_Custom Layout">
    <p:spTree>
      <p:nvGrpSpPr>
        <p:cNvPr id="35" name="Shape 35"/>
        <p:cNvGrpSpPr/>
        <p:nvPr/>
      </p:nvGrpSpPr>
      <p:grpSpPr>
        <a:xfrm>
          <a:off x="0" y="0"/>
          <a:ext cx="0" cy="0"/>
          <a:chOff x="0" y="0"/>
          <a:chExt cx="0" cy="0"/>
        </a:xfrm>
      </p:grpSpPr>
      <p:sp>
        <p:nvSpPr>
          <p:cNvPr id="36" name="Google Shape;36;p21"/>
          <p:cNvSpPr/>
          <p:nvPr/>
        </p:nvSpPr>
        <p:spPr>
          <a:xfrm>
            <a:off x="3262745" y="1"/>
            <a:ext cx="8929255" cy="685799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pic>
        <p:nvPicPr>
          <p:cNvPr id="37" name="Google Shape;37;p21"/>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38" name="Google Shape;38;p21"/>
          <p:cNvSpPr/>
          <p:nvPr/>
        </p:nvSpPr>
        <p:spPr>
          <a:xfrm>
            <a:off x="0" y="5527367"/>
            <a:ext cx="1345678" cy="1330632"/>
          </a:xfrm>
          <a:prstGeom prst="corner">
            <a:avLst>
              <a:gd fmla="val 9356" name="adj1"/>
              <a:gd fmla="val 11584" name="adj2"/>
            </a:avLst>
          </a:prstGeom>
          <a:solidFill>
            <a:srgbClr val="0012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 name="Google Shape;39;p21"/>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7_Custom Layout">
  <p:cSld name="77_Custom Layout">
    <p:spTree>
      <p:nvGrpSpPr>
        <p:cNvPr id="40" name="Shape 40"/>
        <p:cNvGrpSpPr/>
        <p:nvPr/>
      </p:nvGrpSpPr>
      <p:grpSpPr>
        <a:xfrm>
          <a:off x="0" y="0"/>
          <a:ext cx="0" cy="0"/>
          <a:chOff x="0" y="0"/>
          <a:chExt cx="0" cy="0"/>
        </a:xfrm>
      </p:grpSpPr>
      <p:sp>
        <p:nvSpPr>
          <p:cNvPr id="41" name="Google Shape;41;p31"/>
          <p:cNvSpPr/>
          <p:nvPr>
            <p:ph idx="2" type="pic"/>
          </p:nvPr>
        </p:nvSpPr>
        <p:spPr>
          <a:xfrm>
            <a:off x="7271321" y="2161486"/>
            <a:ext cx="3646967" cy="2186777"/>
          </a:xfrm>
          <a:prstGeom prst="roundRect">
            <a:avLst>
              <a:gd fmla="val 6150" name="adj"/>
            </a:avLst>
          </a:prstGeom>
          <a:solidFill>
            <a:schemeClr val="lt1"/>
          </a:solidFill>
          <a:ln>
            <a:noFill/>
          </a:ln>
        </p:spPr>
      </p:sp>
      <p:sp>
        <p:nvSpPr>
          <p:cNvPr id="42" name="Google Shape;42;p31"/>
          <p:cNvSpPr/>
          <p:nvPr>
            <p:ph idx="3" type="pic"/>
          </p:nvPr>
        </p:nvSpPr>
        <p:spPr>
          <a:xfrm>
            <a:off x="5176015" y="3124202"/>
            <a:ext cx="2888914" cy="1767796"/>
          </a:xfrm>
          <a:prstGeom prst="roundRect">
            <a:avLst>
              <a:gd fmla="val 6150" name="adj"/>
            </a:avLst>
          </a:prstGeom>
          <a:solidFill>
            <a:schemeClr val="lt1"/>
          </a:solidFill>
          <a:ln>
            <a:noFill/>
          </a:ln>
        </p:spPr>
      </p:sp>
      <p:pic>
        <p:nvPicPr>
          <p:cNvPr id="43" name="Google Shape;43;p31"/>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44" name="Google Shape;44;p31"/>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9_Custom Layout">
  <p:cSld name="79_Custom Layout">
    <p:spTree>
      <p:nvGrpSpPr>
        <p:cNvPr id="45" name="Shape 45"/>
        <p:cNvGrpSpPr/>
        <p:nvPr/>
      </p:nvGrpSpPr>
      <p:grpSpPr>
        <a:xfrm>
          <a:off x="0" y="0"/>
          <a:ext cx="0" cy="0"/>
          <a:chOff x="0" y="0"/>
          <a:chExt cx="0" cy="0"/>
        </a:xfrm>
      </p:grpSpPr>
      <p:sp>
        <p:nvSpPr>
          <p:cNvPr id="46" name="Google Shape;46;p32"/>
          <p:cNvSpPr/>
          <p:nvPr>
            <p:ph idx="2" type="pic"/>
          </p:nvPr>
        </p:nvSpPr>
        <p:spPr>
          <a:xfrm>
            <a:off x="4620041" y="861924"/>
            <a:ext cx="2548971" cy="5169224"/>
          </a:xfrm>
          <a:prstGeom prst="roundRect">
            <a:avLst>
              <a:gd fmla="val 6150" name="adj"/>
            </a:avLst>
          </a:prstGeom>
          <a:solidFill>
            <a:schemeClr val="lt1"/>
          </a:solidFill>
          <a:ln>
            <a:noFill/>
          </a:ln>
        </p:spPr>
      </p:sp>
      <p:pic>
        <p:nvPicPr>
          <p:cNvPr id="47" name="Google Shape;47;p32"/>
          <p:cNvPicPr preferRelativeResize="0"/>
          <p:nvPr/>
        </p:nvPicPr>
        <p:blipFill rotWithShape="1">
          <a:blip r:embed="rId2">
            <a:alphaModFix/>
          </a:blip>
          <a:srcRect b="0" l="0" r="0" t="0"/>
          <a:stretch/>
        </p:blipFill>
        <p:spPr>
          <a:xfrm>
            <a:off x="104174" y="84559"/>
            <a:ext cx="2974068" cy="690945"/>
          </a:xfrm>
          <a:prstGeom prst="rect">
            <a:avLst/>
          </a:prstGeom>
          <a:noFill/>
          <a:ln>
            <a:noFill/>
          </a:ln>
        </p:spPr>
      </p:pic>
      <p:sp>
        <p:nvSpPr>
          <p:cNvPr id="48" name="Google Shape;48;p32"/>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idx="12" type="sldNum"/>
          </p:nvPr>
        </p:nvSpPr>
        <p:spPr>
          <a:xfrm>
            <a:off x="10998702" y="6273599"/>
            <a:ext cx="991500" cy="584400"/>
          </a:xfrm>
          <a:prstGeom prst="rect">
            <a:avLst/>
          </a:prstGeom>
          <a:noFill/>
          <a:ln>
            <a:noFill/>
          </a:ln>
        </p:spPr>
        <p:txBody>
          <a:bodyPr anchorCtr="0" anchor="t" bIns="91425" lIns="91425" spcFirstLastPara="1" rIns="91425" wrap="square" tIns="91425">
            <a:noAutofit/>
          </a:bodyPr>
          <a:lstStyle>
            <a:lvl1pPr lvl="0" algn="r">
              <a:buNone/>
              <a:defRPr sz="2000">
                <a:solidFill>
                  <a:schemeClr val="tx1"/>
                </a:solidFill>
              </a:defRPr>
            </a:lvl1pPr>
            <a:lvl2pPr lvl="1" algn="r">
              <a:buNone/>
              <a:defRPr sz="2000">
                <a:solidFill>
                  <a:schemeClr val="tx1"/>
                </a:solidFill>
              </a:defRPr>
            </a:lvl2pPr>
            <a:lvl3pPr lvl="2" algn="r">
              <a:buNone/>
              <a:defRPr sz="2000">
                <a:solidFill>
                  <a:schemeClr val="tx1"/>
                </a:solidFill>
              </a:defRPr>
            </a:lvl3pPr>
            <a:lvl4pPr lvl="3" algn="r">
              <a:buNone/>
              <a:defRPr sz="2000">
                <a:solidFill>
                  <a:schemeClr val="tx1"/>
                </a:solidFill>
              </a:defRPr>
            </a:lvl4pPr>
            <a:lvl5pPr lvl="4" algn="r">
              <a:buNone/>
              <a:defRPr sz="2000">
                <a:solidFill>
                  <a:schemeClr val="tx1"/>
                </a:solidFill>
              </a:defRPr>
            </a:lvl5pPr>
            <a:lvl6pPr lvl="5" algn="r">
              <a:buNone/>
              <a:defRPr sz="2000">
                <a:solidFill>
                  <a:schemeClr val="tx1"/>
                </a:solidFill>
              </a:defRPr>
            </a:lvl6pPr>
            <a:lvl7pPr lvl="6" algn="r">
              <a:buNone/>
              <a:defRPr sz="2000">
                <a:solidFill>
                  <a:schemeClr val="tx1"/>
                </a:solidFill>
              </a:defRPr>
            </a:lvl7pPr>
            <a:lvl8pPr lvl="7" algn="r">
              <a:buNone/>
              <a:defRPr sz="2000">
                <a:solidFill>
                  <a:schemeClr val="tx1"/>
                </a:solidFill>
              </a:defRPr>
            </a:lvl8pPr>
            <a:lvl9pPr lvl="8" algn="r">
              <a:buNone/>
              <a:defRPr sz="20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http://ftc.go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p:nvPr/>
        </p:nvSpPr>
        <p:spPr>
          <a:xfrm>
            <a:off x="286579" y="353212"/>
            <a:ext cx="11618700" cy="6151500"/>
          </a:xfrm>
          <a:prstGeom prst="rect">
            <a:avLst/>
          </a:prstGeom>
          <a:solidFill>
            <a:schemeClr val="accent1"/>
          </a:solidFill>
          <a:ln cap="flat" cmpd="sng" w="12700">
            <a:solidFill>
              <a:srgbClr val="00081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1"/>
          <p:cNvSpPr txBox="1"/>
          <p:nvPr/>
        </p:nvSpPr>
        <p:spPr>
          <a:xfrm>
            <a:off x="777075" y="1486550"/>
            <a:ext cx="10638000" cy="46332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4000">
                <a:solidFill>
                  <a:schemeClr val="lt1"/>
                </a:solidFill>
                <a:latin typeface="Inter Black"/>
                <a:ea typeface="Inter Black"/>
                <a:cs typeface="Inter Black"/>
                <a:sym typeface="Inter Black"/>
              </a:rPr>
              <a:t>Knowledge Graph Analytics for Privacy Policy Analysis</a:t>
            </a:r>
            <a:endParaRPr b="1" sz="4000">
              <a:solidFill>
                <a:schemeClr val="lt1"/>
              </a:solidFill>
              <a:latin typeface="Inter Black"/>
              <a:ea typeface="Inter Black"/>
              <a:cs typeface="Inter Black"/>
              <a:sym typeface="Inter Black"/>
            </a:endParaRPr>
          </a:p>
          <a:p>
            <a:pPr indent="0" lvl="0" marL="0" rtl="0" algn="ctr">
              <a:spcBef>
                <a:spcPts val="0"/>
              </a:spcBef>
              <a:spcAft>
                <a:spcPts val="0"/>
              </a:spcAft>
              <a:buClr>
                <a:srgbClr val="000000"/>
              </a:buClr>
              <a:buSzPts val="5300"/>
              <a:buFont typeface="Arial"/>
              <a:buNone/>
            </a:pPr>
            <a:r>
              <a:t/>
            </a:r>
            <a:endParaRPr b="1" sz="2300">
              <a:solidFill>
                <a:schemeClr val="lt1"/>
              </a:solidFill>
              <a:latin typeface="Inter Black"/>
              <a:ea typeface="Inter Black"/>
              <a:cs typeface="Inter Black"/>
              <a:sym typeface="Inter Black"/>
            </a:endParaRPr>
          </a:p>
          <a:p>
            <a:pPr indent="0" lvl="0" marL="0" rtl="0" algn="ctr">
              <a:lnSpc>
                <a:spcPct val="115000"/>
              </a:lnSpc>
              <a:spcBef>
                <a:spcPts val="1200"/>
              </a:spcBef>
              <a:spcAft>
                <a:spcPts val="0"/>
              </a:spcAft>
              <a:buNone/>
            </a:pPr>
            <a:r>
              <a:rPr b="1" lang="en-US" sz="2100">
                <a:solidFill>
                  <a:schemeClr val="lt1"/>
                </a:solidFill>
              </a:rPr>
              <a:t>Team Members:</a:t>
            </a:r>
            <a:br>
              <a:rPr b="1" lang="en-US" sz="2100"/>
            </a:br>
            <a:r>
              <a:rPr b="1" lang="en-US" sz="2100">
                <a:solidFill>
                  <a:schemeClr val="lt1"/>
                </a:solidFill>
              </a:rPr>
              <a:t>Mehak Kaur¹ (Team Leader), Julie Allen²</a:t>
            </a:r>
            <a:endParaRPr b="1" sz="2100">
              <a:solidFill>
                <a:schemeClr val="lt1"/>
              </a:solidFill>
            </a:endParaRPr>
          </a:p>
          <a:p>
            <a:pPr indent="0" lvl="0" marL="0" rtl="0" algn="ctr">
              <a:lnSpc>
                <a:spcPct val="115000"/>
              </a:lnSpc>
              <a:spcBef>
                <a:spcPts val="1200"/>
              </a:spcBef>
              <a:spcAft>
                <a:spcPts val="0"/>
              </a:spcAft>
              <a:buNone/>
            </a:pPr>
            <a:r>
              <a:rPr lang="en-US" sz="1900">
                <a:solidFill>
                  <a:schemeClr val="lt1"/>
                </a:solidFill>
              </a:rPr>
              <a:t>¹mk12462@georgiasouthern.edu</a:t>
            </a:r>
            <a:br>
              <a:rPr lang="en-US" sz="1900">
                <a:solidFill>
                  <a:schemeClr val="lt1"/>
                </a:solidFill>
              </a:rPr>
            </a:br>
            <a:r>
              <a:rPr lang="en-US" sz="1900">
                <a:solidFill>
                  <a:schemeClr val="lt1"/>
                </a:solidFill>
              </a:rPr>
              <a:t>²ja23916@georgiasouthern.edu</a:t>
            </a:r>
            <a:endParaRPr sz="1900">
              <a:solidFill>
                <a:schemeClr val="lt1"/>
              </a:solidFill>
            </a:endParaRPr>
          </a:p>
          <a:p>
            <a:pPr indent="0" lvl="0" marL="0" marR="0" rtl="0" algn="ctr">
              <a:lnSpc>
                <a:spcPct val="100000"/>
              </a:lnSpc>
              <a:spcBef>
                <a:spcPts val="1200"/>
              </a:spcBef>
              <a:spcAft>
                <a:spcPts val="0"/>
              </a:spcAft>
              <a:buClr>
                <a:srgbClr val="000000"/>
              </a:buClr>
              <a:buSzPts val="3500"/>
              <a:buFont typeface="Arial"/>
              <a:buNone/>
            </a:pPr>
            <a:r>
              <a:t/>
            </a:r>
            <a:endParaRPr b="1" sz="7000">
              <a:solidFill>
                <a:schemeClr val="lt1"/>
              </a:solidFill>
              <a:latin typeface="Inter Black"/>
              <a:ea typeface="Inter Black"/>
              <a:cs typeface="Inter Black"/>
              <a:sym typeface="Inter Black"/>
            </a:endParaRPr>
          </a:p>
        </p:txBody>
      </p:sp>
      <p:pic>
        <p:nvPicPr>
          <p:cNvPr descr="A black and white logo&#10;&#10;Description automatically generated" id="56" name="Google Shape;56;p1"/>
          <p:cNvPicPr preferRelativeResize="0"/>
          <p:nvPr/>
        </p:nvPicPr>
        <p:blipFill rotWithShape="1">
          <a:blip r:embed="rId3">
            <a:alphaModFix/>
          </a:blip>
          <a:srcRect b="0" l="0" r="0" t="0"/>
          <a:stretch/>
        </p:blipFill>
        <p:spPr>
          <a:xfrm>
            <a:off x="3966677" y="406457"/>
            <a:ext cx="4258650" cy="911711"/>
          </a:xfrm>
          <a:prstGeom prst="rect">
            <a:avLst/>
          </a:prstGeom>
          <a:noFill/>
          <a:ln>
            <a:noFill/>
          </a:ln>
        </p:spPr>
      </p:pic>
      <p:sp>
        <p:nvSpPr>
          <p:cNvPr id="57" name="Google Shape;57;p1"/>
          <p:cNvSpPr/>
          <p:nvPr/>
        </p:nvSpPr>
        <p:spPr>
          <a:xfrm rot="5400000">
            <a:off x="136832" y="230581"/>
            <a:ext cx="1018800" cy="1007400"/>
          </a:xfrm>
          <a:prstGeom prst="corner">
            <a:avLst>
              <a:gd fmla="val 14814" name="adj1"/>
              <a:gd fmla="val 13977"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 name="Google Shape;58;p1"/>
          <p:cNvSpPr/>
          <p:nvPr/>
        </p:nvSpPr>
        <p:spPr>
          <a:xfrm rot="-5400000">
            <a:off x="11049454" y="5640341"/>
            <a:ext cx="1018800" cy="1007400"/>
          </a:xfrm>
          <a:prstGeom prst="corner">
            <a:avLst>
              <a:gd fmla="val 14814" name="adj1"/>
              <a:gd fmla="val 13977"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 name="Google Shape;59;p1"/>
          <p:cNvSpPr txBox="1"/>
          <p:nvPr/>
        </p:nvSpPr>
        <p:spPr>
          <a:xfrm>
            <a:off x="4983975" y="5180475"/>
            <a:ext cx="2081100" cy="49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200">
                <a:solidFill>
                  <a:schemeClr val="lt1"/>
                </a:solidFill>
              </a:rPr>
              <a:t>April 30, 2026</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p:nvPr/>
        </p:nvSpPr>
        <p:spPr>
          <a:xfrm rot="-5400000">
            <a:off x="10840034" y="5506035"/>
            <a:ext cx="1345678" cy="1358253"/>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 name="Google Shape;65;p9"/>
          <p:cNvSpPr txBox="1"/>
          <p:nvPr/>
        </p:nvSpPr>
        <p:spPr>
          <a:xfrm>
            <a:off x="328375" y="913825"/>
            <a:ext cx="112788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chemeClr val="dk1"/>
                </a:solidFill>
              </a:rPr>
              <a:t>Project Overview/Motivation/Why it Matters?</a:t>
            </a:r>
            <a:endParaRPr b="0" i="0" sz="4000" u="none" cap="none" strike="noStrike">
              <a:solidFill>
                <a:srgbClr val="000000"/>
              </a:solidFill>
              <a:latin typeface="Arial"/>
              <a:ea typeface="Arial"/>
              <a:cs typeface="Arial"/>
              <a:sym typeface="Arial"/>
            </a:endParaRPr>
          </a:p>
        </p:txBody>
      </p:sp>
      <p:sp>
        <p:nvSpPr>
          <p:cNvPr id="66" name="Google Shape;66;p9"/>
          <p:cNvSpPr txBox="1"/>
          <p:nvPr/>
        </p:nvSpPr>
        <p:spPr>
          <a:xfrm>
            <a:off x="803852" y="1864400"/>
            <a:ext cx="10584300" cy="4155900"/>
          </a:xfrm>
          <a:prstGeom prst="rect">
            <a:avLst/>
          </a:prstGeom>
          <a:solidFill>
            <a:srgbClr val="001344"/>
          </a:solidFill>
          <a:ln>
            <a:noFill/>
          </a:ln>
        </p:spPr>
        <p:txBody>
          <a:bodyPr anchorCtr="0" anchor="t" bIns="45700" lIns="91425" spcFirstLastPara="1" rIns="91425" wrap="square" tIns="45700">
            <a:spAutoFit/>
          </a:bodyPr>
          <a:lstStyle/>
          <a:p>
            <a:pPr indent="-387350" lvl="0" marL="457200" rtl="0" algn="l">
              <a:spcBef>
                <a:spcPts val="0"/>
              </a:spcBef>
              <a:spcAft>
                <a:spcPts val="0"/>
              </a:spcAft>
              <a:buClr>
                <a:schemeClr val="lt1"/>
              </a:buClr>
              <a:buSzPts val="2500"/>
              <a:buChar char="❏"/>
            </a:pPr>
            <a:r>
              <a:rPr lang="en-US" sz="2500">
                <a:solidFill>
                  <a:schemeClr val="lt1"/>
                </a:solidFill>
              </a:rPr>
              <a:t>Privacy policies are complex and difficult to understand, limiting meaningful user consent</a:t>
            </a:r>
            <a:br>
              <a:rPr lang="en-US" sz="2500">
                <a:solidFill>
                  <a:schemeClr val="lt1"/>
                </a:solidFill>
              </a:rPr>
            </a:br>
            <a:endParaRPr sz="2500">
              <a:solidFill>
                <a:schemeClr val="lt1"/>
              </a:solidFill>
            </a:endParaRPr>
          </a:p>
          <a:p>
            <a:pPr indent="-387350" lvl="0" marL="457200" rtl="0" algn="l">
              <a:spcBef>
                <a:spcPts val="0"/>
              </a:spcBef>
              <a:spcAft>
                <a:spcPts val="0"/>
              </a:spcAft>
              <a:buClr>
                <a:schemeClr val="lt1"/>
              </a:buClr>
              <a:buSzPts val="2500"/>
              <a:buChar char="❏"/>
            </a:pPr>
            <a:r>
              <a:rPr lang="en-US" sz="2500">
                <a:solidFill>
                  <a:schemeClr val="lt1"/>
                </a:solidFill>
              </a:rPr>
              <a:t>Companies often use vague language, reducing transparency</a:t>
            </a:r>
            <a:endParaRPr sz="2500">
              <a:solidFill>
                <a:schemeClr val="lt1"/>
              </a:solidFill>
            </a:endParaRPr>
          </a:p>
          <a:p>
            <a:pPr indent="0" lvl="0" marL="457200" rtl="0" algn="l">
              <a:spcBef>
                <a:spcPts val="0"/>
              </a:spcBef>
              <a:spcAft>
                <a:spcPts val="0"/>
              </a:spcAft>
              <a:buNone/>
            </a:pPr>
            <a:r>
              <a:t/>
            </a:r>
            <a:endParaRPr sz="2500">
              <a:solidFill>
                <a:schemeClr val="lt1"/>
              </a:solidFill>
            </a:endParaRPr>
          </a:p>
          <a:p>
            <a:pPr indent="-387350" lvl="0" marL="457200" rtl="0" algn="l">
              <a:spcBef>
                <a:spcPts val="0"/>
              </a:spcBef>
              <a:spcAft>
                <a:spcPts val="0"/>
              </a:spcAft>
              <a:buClr>
                <a:schemeClr val="lt1"/>
              </a:buClr>
              <a:buSzPts val="2500"/>
              <a:buChar char="❏"/>
            </a:pPr>
            <a:r>
              <a:rPr lang="en-US" sz="2500">
                <a:solidFill>
                  <a:schemeClr val="lt1"/>
                </a:solidFill>
              </a:rPr>
              <a:t>There are no effective tools to compare privacy practices across companies or industries</a:t>
            </a:r>
            <a:endParaRPr sz="2500">
              <a:solidFill>
                <a:schemeClr val="lt1"/>
              </a:solidFill>
            </a:endParaRPr>
          </a:p>
          <a:p>
            <a:pPr indent="0" lvl="0" marL="457200" rtl="0" algn="l">
              <a:spcBef>
                <a:spcPts val="0"/>
              </a:spcBef>
              <a:spcAft>
                <a:spcPts val="0"/>
              </a:spcAft>
              <a:buNone/>
            </a:pPr>
            <a:r>
              <a:t/>
            </a:r>
            <a:endParaRPr sz="2500">
              <a:solidFill>
                <a:schemeClr val="lt1"/>
              </a:solidFill>
            </a:endParaRPr>
          </a:p>
          <a:p>
            <a:pPr indent="-387350" lvl="0" marL="457200" rtl="0" algn="l">
              <a:spcBef>
                <a:spcPts val="0"/>
              </a:spcBef>
              <a:spcAft>
                <a:spcPts val="0"/>
              </a:spcAft>
              <a:buClr>
                <a:schemeClr val="lt1"/>
              </a:buClr>
              <a:buSzPts val="2500"/>
              <a:buChar char="❏"/>
            </a:pPr>
            <a:r>
              <a:rPr lang="en-US" sz="2500">
                <a:solidFill>
                  <a:schemeClr val="lt1"/>
                </a:solidFill>
              </a:rPr>
              <a:t>This project uses a Knowledge Graph to analyze policies, assess compliance, and reveal industry-wide patterns</a:t>
            </a:r>
            <a:endParaRPr sz="2500">
              <a:solidFill>
                <a:schemeClr val="lt1"/>
              </a:solidFill>
            </a:endParaRPr>
          </a:p>
          <a:p>
            <a:pPr indent="0" lvl="0" marL="0" marR="0" rtl="0" algn="l">
              <a:lnSpc>
                <a:spcPct val="100000"/>
              </a:lnSpc>
              <a:spcBef>
                <a:spcPts val="0"/>
              </a:spcBef>
              <a:spcAft>
                <a:spcPts val="0"/>
              </a:spcAft>
              <a:buClr>
                <a:srgbClr val="000000"/>
              </a:buClr>
              <a:buSzPts val="3200"/>
              <a:buFont typeface="Arial"/>
              <a:buNone/>
            </a:pPr>
            <a:r>
              <a:t/>
            </a:r>
            <a:endParaRPr/>
          </a:p>
        </p:txBody>
      </p:sp>
      <p:sp>
        <p:nvSpPr>
          <p:cNvPr id="67" name="Google Shape;67;p9"/>
          <p:cNvSpPr/>
          <p:nvPr/>
        </p:nvSpPr>
        <p:spPr>
          <a:xfrm>
            <a:off x="-167378" y="878068"/>
            <a:ext cx="334756" cy="779499"/>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68" name="Google Shape;68;p9"/>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da9f8ea407_0_18"/>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 name="Google Shape;74;g3da9f8ea407_0_18"/>
          <p:cNvSpPr txBox="1"/>
          <p:nvPr/>
        </p:nvSpPr>
        <p:spPr>
          <a:xfrm>
            <a:off x="351094" y="913786"/>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344"/>
                </a:solidFill>
              </a:rPr>
              <a:t>Progress Update</a:t>
            </a:r>
            <a:r>
              <a:rPr lang="en-US" sz="3400">
                <a:solidFill>
                  <a:srgbClr val="001344"/>
                </a:solidFill>
              </a:rPr>
              <a:t> </a:t>
            </a:r>
            <a:endParaRPr b="0" i="0" sz="3400" u="none" cap="none" strike="noStrike">
              <a:solidFill>
                <a:srgbClr val="001344"/>
              </a:solidFill>
              <a:latin typeface="Arial"/>
              <a:ea typeface="Arial"/>
              <a:cs typeface="Arial"/>
              <a:sym typeface="Arial"/>
            </a:endParaRPr>
          </a:p>
        </p:txBody>
      </p:sp>
      <p:sp>
        <p:nvSpPr>
          <p:cNvPr id="75" name="Google Shape;75;g3da9f8ea407_0_18"/>
          <p:cNvSpPr txBox="1"/>
          <p:nvPr/>
        </p:nvSpPr>
        <p:spPr>
          <a:xfrm>
            <a:off x="674215" y="1606110"/>
            <a:ext cx="919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da9f8ea407_0_18"/>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77" name="Google Shape;77;g3da9f8ea407_0_18"/>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78" name="Google Shape;78;g3da9f8ea407_0_18"/>
          <p:cNvSpPr txBox="1"/>
          <p:nvPr/>
        </p:nvSpPr>
        <p:spPr>
          <a:xfrm>
            <a:off x="237925" y="1842625"/>
            <a:ext cx="11865300" cy="187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2500">
                <a:solidFill>
                  <a:schemeClr val="lt1"/>
                </a:solidFill>
                <a:highlight>
                  <a:srgbClr val="001344"/>
                </a:highlight>
              </a:rPr>
              <a:t>Initial Node Types</a:t>
            </a:r>
            <a:endParaRPr b="1" sz="2500">
              <a:solidFill>
                <a:schemeClr val="lt1"/>
              </a:solidFill>
              <a:highlight>
                <a:srgbClr val="001344"/>
              </a:highlight>
            </a:endParaRPr>
          </a:p>
          <a:p>
            <a:pPr indent="-355600" lvl="0" marL="457200" rtl="0" algn="l">
              <a:lnSpc>
                <a:spcPct val="115000"/>
              </a:lnSpc>
              <a:spcBef>
                <a:spcPts val="1200"/>
              </a:spcBef>
              <a:spcAft>
                <a:spcPts val="0"/>
              </a:spcAft>
              <a:buSzPts val="2000"/>
              <a:buChar char="❏"/>
            </a:pPr>
            <a:r>
              <a:rPr b="1" lang="en-US" sz="2000"/>
              <a:t>ACTOR</a:t>
            </a:r>
            <a:r>
              <a:rPr lang="en-US" sz="2000"/>
              <a:t> — any entity that collects or handles data. Examples: </a:t>
            </a:r>
            <a:r>
              <a:rPr lang="en-US" sz="2000">
                <a:solidFill>
                  <a:srgbClr val="188038"/>
                </a:solidFill>
                <a:latin typeface="Roboto Mono"/>
                <a:ea typeface="Roboto Mono"/>
                <a:cs typeface="Roboto Mono"/>
                <a:sym typeface="Roboto Mono"/>
              </a:rPr>
              <a:t>"we"</a:t>
            </a:r>
            <a:r>
              <a:rPr lang="en-US" sz="2000"/>
              <a:t>, </a:t>
            </a:r>
            <a:r>
              <a:rPr lang="en-US" sz="2000">
                <a:solidFill>
                  <a:srgbClr val="188038"/>
                </a:solidFill>
                <a:latin typeface="Roboto Mono"/>
                <a:ea typeface="Roboto Mono"/>
                <a:cs typeface="Roboto Mono"/>
                <a:sym typeface="Roboto Mono"/>
              </a:rPr>
              <a:t>"service provider"</a:t>
            </a:r>
            <a:endParaRPr sz="2000"/>
          </a:p>
          <a:p>
            <a:pPr indent="-355600" lvl="0" marL="457200" rtl="0" algn="l">
              <a:lnSpc>
                <a:spcPct val="115000"/>
              </a:lnSpc>
              <a:spcBef>
                <a:spcPts val="0"/>
              </a:spcBef>
              <a:spcAft>
                <a:spcPts val="0"/>
              </a:spcAft>
              <a:buSzPts val="2000"/>
              <a:buChar char="❏"/>
            </a:pPr>
            <a:r>
              <a:rPr b="1" lang="en-US" sz="2000"/>
              <a:t>DATA</a:t>
            </a:r>
            <a:r>
              <a:rPr lang="en-US" sz="2000"/>
              <a:t> — any data type or category. </a:t>
            </a:r>
            <a:br>
              <a:rPr lang="en-US" sz="2000"/>
            </a:br>
            <a:r>
              <a:rPr lang="en-US" sz="2000"/>
              <a:t>Examples: </a:t>
            </a:r>
            <a:r>
              <a:rPr lang="en-US" sz="2000">
                <a:solidFill>
                  <a:srgbClr val="188038"/>
                </a:solidFill>
                <a:latin typeface="Roboto Mono"/>
                <a:ea typeface="Roboto Mono"/>
                <a:cs typeface="Roboto Mono"/>
                <a:sym typeface="Roboto Mono"/>
              </a:rPr>
              <a:t>"personal information"</a:t>
            </a:r>
            <a:r>
              <a:rPr lang="en-US" sz="2000"/>
              <a:t>, </a:t>
            </a:r>
            <a:r>
              <a:rPr lang="en-US" sz="2000">
                <a:solidFill>
                  <a:srgbClr val="188038"/>
                </a:solidFill>
                <a:latin typeface="Roboto Mono"/>
                <a:ea typeface="Roboto Mono"/>
                <a:cs typeface="Roboto Mono"/>
                <a:sym typeface="Roboto Mono"/>
              </a:rPr>
              <a:t>"email address"</a:t>
            </a:r>
            <a:r>
              <a:rPr lang="en-US" sz="2000"/>
              <a:t>, </a:t>
            </a:r>
            <a:r>
              <a:rPr lang="en-US" sz="2000">
                <a:solidFill>
                  <a:srgbClr val="188038"/>
                </a:solidFill>
                <a:latin typeface="Roboto Mono"/>
                <a:ea typeface="Roboto Mono"/>
                <a:cs typeface="Roboto Mono"/>
                <a:sym typeface="Roboto Mono"/>
              </a:rPr>
              <a:t>"cookie"</a:t>
            </a:r>
            <a:r>
              <a:rPr lang="en-US" sz="2000"/>
              <a:t>, </a:t>
            </a:r>
            <a:r>
              <a:rPr lang="en-US" sz="2000">
                <a:solidFill>
                  <a:srgbClr val="188038"/>
                </a:solidFill>
                <a:latin typeface="Roboto Mono"/>
                <a:ea typeface="Roboto Mono"/>
                <a:cs typeface="Roboto Mono"/>
                <a:sym typeface="Roboto Mono"/>
              </a:rPr>
              <a:t>"health information"</a:t>
            </a:r>
            <a:r>
              <a:rPr lang="en-US" sz="2000"/>
              <a:t>, </a:t>
            </a:r>
            <a:r>
              <a:rPr lang="en-US" sz="2000">
                <a:solidFill>
                  <a:srgbClr val="188038"/>
                </a:solidFill>
                <a:latin typeface="Roboto Mono"/>
                <a:ea typeface="Roboto Mono"/>
                <a:cs typeface="Roboto Mono"/>
                <a:sym typeface="Roboto Mono"/>
              </a:rPr>
              <a:t>"ssn"</a:t>
            </a:r>
            <a:endParaRPr sz="2000">
              <a:solidFill>
                <a:srgbClr val="188038"/>
              </a:solidFill>
              <a:latin typeface="Roboto Mono"/>
              <a:ea typeface="Roboto Mono"/>
              <a:cs typeface="Roboto Mono"/>
              <a:sym typeface="Roboto Mono"/>
            </a:endParaRPr>
          </a:p>
        </p:txBody>
      </p:sp>
      <p:sp>
        <p:nvSpPr>
          <p:cNvPr id="79" name="Google Shape;79;g3da9f8ea407_0_18"/>
          <p:cNvSpPr txBox="1"/>
          <p:nvPr/>
        </p:nvSpPr>
        <p:spPr>
          <a:xfrm>
            <a:off x="237925" y="3943275"/>
            <a:ext cx="11553600" cy="243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500">
                <a:solidFill>
                  <a:schemeClr val="lt1"/>
                </a:solidFill>
                <a:highlight>
                  <a:srgbClr val="001344"/>
                </a:highlight>
              </a:rPr>
              <a:t>Initial Edge Types</a:t>
            </a:r>
            <a:endParaRPr sz="1500">
              <a:solidFill>
                <a:schemeClr val="lt1"/>
              </a:solidFill>
              <a:highlight>
                <a:srgbClr val="001344"/>
              </a:highlight>
            </a:endParaRPr>
          </a:p>
          <a:p>
            <a:pPr indent="-355600" lvl="0" marL="457200" rtl="0" algn="l">
              <a:lnSpc>
                <a:spcPct val="100000"/>
              </a:lnSpc>
              <a:spcBef>
                <a:spcPts val="400"/>
              </a:spcBef>
              <a:spcAft>
                <a:spcPts val="0"/>
              </a:spcAft>
              <a:buSzPts val="2000"/>
              <a:buChar char="❏"/>
            </a:pPr>
            <a:r>
              <a:rPr b="1" lang="en-US" sz="2000"/>
              <a:t>COLLECT</a:t>
            </a:r>
            <a:r>
              <a:rPr lang="en-US" sz="2000"/>
              <a:t> — an ACTOR collects a DATA type. </a:t>
            </a:r>
            <a:br>
              <a:rPr lang="en-US" sz="2000"/>
            </a:br>
            <a:r>
              <a:rPr lang="en-US" sz="2000"/>
              <a:t>Examples: </a:t>
            </a:r>
            <a:r>
              <a:rPr lang="en-US" sz="2000">
                <a:solidFill>
                  <a:srgbClr val="188038"/>
                </a:solidFill>
              </a:rPr>
              <a:t>"we"  →  "email address", "advertiser"  →  "cookie"</a:t>
            </a:r>
            <a:endParaRPr sz="2000">
              <a:solidFill>
                <a:srgbClr val="188038"/>
              </a:solidFill>
            </a:endParaRPr>
          </a:p>
          <a:p>
            <a:pPr indent="-355600" lvl="0" marL="457200" rtl="0" algn="l">
              <a:lnSpc>
                <a:spcPct val="100000"/>
              </a:lnSpc>
              <a:spcBef>
                <a:spcPts val="0"/>
              </a:spcBef>
              <a:spcAft>
                <a:spcPts val="0"/>
              </a:spcAft>
              <a:buSzPts val="2000"/>
              <a:buChar char="❏"/>
            </a:pPr>
            <a:r>
              <a:rPr b="1" lang="en-US" sz="2000"/>
              <a:t>SUBSUM</a:t>
            </a:r>
            <a:r>
              <a:rPr lang="en-US" sz="2000"/>
              <a:t> — a broad DATA category encompasses a more specific sub-type. </a:t>
            </a:r>
            <a:br>
              <a:rPr lang="en-US" sz="2000"/>
            </a:br>
            <a:r>
              <a:rPr lang="en-US" sz="2000"/>
              <a:t>Examples: </a:t>
            </a:r>
            <a:r>
              <a:rPr lang="en-US" sz="2000">
                <a:solidFill>
                  <a:srgbClr val="188038"/>
                </a:solidFill>
              </a:rPr>
              <a:t>"personal information"  ⊇  "email </a:t>
            </a:r>
            <a:r>
              <a:rPr lang="en-US" sz="2000">
                <a:solidFill>
                  <a:srgbClr val="188038"/>
                </a:solidFill>
              </a:rPr>
              <a:t>address",</a:t>
            </a:r>
            <a:r>
              <a:rPr lang="en-US" sz="2000">
                <a:solidFill>
                  <a:srgbClr val="188038"/>
                </a:solidFill>
              </a:rPr>
              <a:t> "contact information"   ⊇  "phone number."</a:t>
            </a:r>
            <a:endParaRPr sz="2000">
              <a:solidFill>
                <a:srgbClr val="188038"/>
              </a:solidFill>
            </a:endParaRPr>
          </a:p>
          <a:p>
            <a:pPr indent="0" lvl="0" marL="0" rtl="0" algn="l">
              <a:lnSpc>
                <a:spcPct val="115000"/>
              </a:lnSpc>
              <a:spcBef>
                <a:spcPts val="1200"/>
              </a:spcBef>
              <a:spcAft>
                <a:spcPts val="1200"/>
              </a:spcAft>
              <a:buNone/>
            </a:pPr>
            <a:r>
              <a:t/>
            </a:r>
            <a:endParaRPr b="1"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dab3b0c0e2_0_475"/>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g3dab3b0c0e2_0_475"/>
          <p:cNvSpPr txBox="1"/>
          <p:nvPr/>
        </p:nvSpPr>
        <p:spPr>
          <a:xfrm>
            <a:off x="351094" y="913786"/>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344"/>
                </a:solidFill>
              </a:rPr>
              <a:t>Progress Update</a:t>
            </a:r>
            <a:r>
              <a:rPr lang="en-US" sz="3400">
                <a:solidFill>
                  <a:srgbClr val="001344"/>
                </a:solidFill>
              </a:rPr>
              <a:t> </a:t>
            </a:r>
            <a:endParaRPr b="0" i="0" sz="3400" u="none" cap="none" strike="noStrike">
              <a:solidFill>
                <a:srgbClr val="001344"/>
              </a:solidFill>
              <a:latin typeface="Arial"/>
              <a:ea typeface="Arial"/>
              <a:cs typeface="Arial"/>
              <a:sym typeface="Arial"/>
            </a:endParaRPr>
          </a:p>
        </p:txBody>
      </p:sp>
      <p:sp>
        <p:nvSpPr>
          <p:cNvPr id="86" name="Google Shape;86;g3dab3b0c0e2_0_475"/>
          <p:cNvSpPr txBox="1"/>
          <p:nvPr/>
        </p:nvSpPr>
        <p:spPr>
          <a:xfrm>
            <a:off x="674215" y="1606110"/>
            <a:ext cx="919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dab3b0c0e2_0_475"/>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88" name="Google Shape;88;g3dab3b0c0e2_0_475"/>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89" name="Google Shape;89;g3dab3b0c0e2_0_475"/>
          <p:cNvSpPr txBox="1"/>
          <p:nvPr/>
        </p:nvSpPr>
        <p:spPr>
          <a:xfrm>
            <a:off x="237925" y="1917850"/>
            <a:ext cx="4638900" cy="3258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2500">
                <a:solidFill>
                  <a:schemeClr val="lt1"/>
                </a:solidFill>
                <a:highlight>
                  <a:srgbClr val="001344"/>
                </a:highlight>
              </a:rPr>
              <a:t>Initial Knowledge Graph</a:t>
            </a:r>
            <a:r>
              <a:rPr b="1" lang="en-US" sz="2500"/>
              <a:t> </a:t>
            </a:r>
            <a:endParaRPr b="1" sz="2500"/>
          </a:p>
          <a:p>
            <a:pPr indent="-355600" lvl="0" marL="457200" rtl="0" algn="l">
              <a:lnSpc>
                <a:spcPct val="115000"/>
              </a:lnSpc>
              <a:spcBef>
                <a:spcPts val="1200"/>
              </a:spcBef>
              <a:spcAft>
                <a:spcPts val="0"/>
              </a:spcAft>
              <a:buSzPts val="2000"/>
              <a:buChar char="❏"/>
            </a:pPr>
            <a:r>
              <a:rPr b="1" lang="en-US" sz="2000"/>
              <a:t>ACTOR node:</a:t>
            </a:r>
            <a:r>
              <a:rPr lang="en-US" sz="2000"/>
              <a:t> entity collecting data</a:t>
            </a:r>
            <a:endParaRPr sz="2000"/>
          </a:p>
          <a:p>
            <a:pPr indent="-355600" lvl="0" marL="457200" rtl="0" algn="l">
              <a:lnSpc>
                <a:spcPct val="115000"/>
              </a:lnSpc>
              <a:spcBef>
                <a:spcPts val="0"/>
              </a:spcBef>
              <a:spcAft>
                <a:spcPts val="0"/>
              </a:spcAft>
              <a:buSzPts val="2000"/>
              <a:buChar char="❏"/>
            </a:pPr>
            <a:r>
              <a:rPr b="1" lang="en-US" sz="2000"/>
              <a:t>DATA node</a:t>
            </a:r>
            <a:r>
              <a:rPr lang="en-US" sz="2000"/>
              <a:t>: data type or category</a:t>
            </a:r>
            <a:endParaRPr sz="2000"/>
          </a:p>
          <a:p>
            <a:pPr indent="-355600" lvl="0" marL="457200" rtl="0" algn="l">
              <a:lnSpc>
                <a:spcPct val="115000"/>
              </a:lnSpc>
              <a:spcBef>
                <a:spcPts val="0"/>
              </a:spcBef>
              <a:spcAft>
                <a:spcPts val="0"/>
              </a:spcAft>
              <a:buSzPts val="2000"/>
              <a:buChar char="❏"/>
            </a:pPr>
            <a:r>
              <a:rPr b="1" lang="en-US" sz="2000"/>
              <a:t>COLLECT edge:</a:t>
            </a:r>
            <a:r>
              <a:rPr lang="en-US" sz="2000"/>
              <a:t> actor → data collected</a:t>
            </a:r>
            <a:endParaRPr sz="2000"/>
          </a:p>
          <a:p>
            <a:pPr indent="-355600" lvl="0" marL="457200" rtl="0" algn="l">
              <a:lnSpc>
                <a:spcPct val="115000"/>
              </a:lnSpc>
              <a:spcBef>
                <a:spcPts val="0"/>
              </a:spcBef>
              <a:spcAft>
                <a:spcPts val="0"/>
              </a:spcAft>
              <a:buSzPts val="2000"/>
              <a:buChar char="❏"/>
            </a:pPr>
            <a:r>
              <a:rPr b="1" lang="en-US" sz="2000"/>
              <a:t>SUBSUM edge:</a:t>
            </a:r>
            <a:r>
              <a:rPr lang="en-US" sz="2000"/>
              <a:t> broad category ⊇ sub-type</a:t>
            </a:r>
            <a:endParaRPr b="1" sz="2000"/>
          </a:p>
        </p:txBody>
      </p:sp>
      <p:sp>
        <p:nvSpPr>
          <p:cNvPr id="90" name="Google Shape;90;g3dab3b0c0e2_0_475"/>
          <p:cNvSpPr txBox="1"/>
          <p:nvPr/>
        </p:nvSpPr>
        <p:spPr>
          <a:xfrm>
            <a:off x="5542675" y="1285150"/>
            <a:ext cx="6135600" cy="3891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500">
                <a:solidFill>
                  <a:schemeClr val="lt1"/>
                </a:solidFill>
                <a:highlight>
                  <a:srgbClr val="001344"/>
                </a:highlight>
              </a:rPr>
              <a:t>Unified Knowledge Graph (cross-company) </a:t>
            </a:r>
            <a:endParaRPr sz="1500">
              <a:solidFill>
                <a:schemeClr val="lt1"/>
              </a:solidFill>
              <a:highlight>
                <a:srgbClr val="001344"/>
              </a:highlight>
            </a:endParaRPr>
          </a:p>
          <a:p>
            <a:pPr indent="-355600" lvl="0" marL="457200" rtl="0" algn="l">
              <a:spcBef>
                <a:spcPts val="400"/>
              </a:spcBef>
              <a:spcAft>
                <a:spcPts val="0"/>
              </a:spcAft>
              <a:buSzPts val="2000"/>
              <a:buChar char="❏"/>
            </a:pPr>
            <a:r>
              <a:rPr b="1" lang="en-US" sz="2000"/>
              <a:t>Company node</a:t>
            </a:r>
            <a:r>
              <a:rPr lang="en-US" sz="2000"/>
              <a:t>: one of </a:t>
            </a:r>
            <a:r>
              <a:rPr b="1" lang="en-US" sz="2000"/>
              <a:t>184</a:t>
            </a:r>
            <a:r>
              <a:rPr lang="en-US" sz="2000"/>
              <a:t> S&amp;P 500 firms</a:t>
            </a:r>
            <a:endParaRPr sz="2000"/>
          </a:p>
          <a:p>
            <a:pPr indent="-355600" lvl="0" marL="457200" rtl="0" algn="l">
              <a:spcBef>
                <a:spcPts val="0"/>
              </a:spcBef>
              <a:spcAft>
                <a:spcPts val="0"/>
              </a:spcAft>
              <a:buSzPts val="2000"/>
              <a:buChar char="❏"/>
            </a:pPr>
            <a:r>
              <a:rPr b="1" lang="en-US" sz="2000"/>
              <a:t>Sector node</a:t>
            </a:r>
            <a:r>
              <a:rPr lang="en-US" sz="2000"/>
              <a:t>: IT / Healthcare / Financial</a:t>
            </a:r>
            <a:endParaRPr sz="2000"/>
          </a:p>
          <a:p>
            <a:pPr indent="-355600" lvl="0" marL="457200" rtl="0" algn="l">
              <a:spcBef>
                <a:spcPts val="0"/>
              </a:spcBef>
              <a:spcAft>
                <a:spcPts val="0"/>
              </a:spcAft>
              <a:buSzPts val="2000"/>
              <a:buChar char="❏"/>
            </a:pPr>
            <a:r>
              <a:rPr b="1" lang="en-US" sz="2000"/>
              <a:t>Regulation node:</a:t>
            </a:r>
            <a:r>
              <a:rPr lang="en-US" sz="2000"/>
              <a:t> General Data Protection Regulation (GDPR)/California Consumer Privacy Act (CCPA)/Health Information Privacy (HIPAA)</a:t>
            </a:r>
            <a:endParaRPr sz="2000"/>
          </a:p>
          <a:p>
            <a:pPr indent="-355600" lvl="0" marL="457200" rtl="0" algn="l">
              <a:spcBef>
                <a:spcPts val="0"/>
              </a:spcBef>
              <a:spcAft>
                <a:spcPts val="0"/>
              </a:spcAft>
              <a:buSzPts val="2000"/>
              <a:buChar char="❏"/>
            </a:pPr>
            <a:r>
              <a:rPr b="1" lang="en-US" sz="2000"/>
              <a:t>IN_SECTOR edge:</a:t>
            </a:r>
            <a:r>
              <a:rPr lang="en-US" sz="2000"/>
              <a:t> company belongs to sector</a:t>
            </a:r>
            <a:endParaRPr sz="2000"/>
          </a:p>
          <a:p>
            <a:pPr indent="-355600" lvl="0" marL="457200" rtl="0" algn="l">
              <a:spcBef>
                <a:spcPts val="0"/>
              </a:spcBef>
              <a:spcAft>
                <a:spcPts val="0"/>
              </a:spcAft>
              <a:buSzPts val="2000"/>
              <a:buChar char="❏"/>
            </a:pPr>
            <a:r>
              <a:rPr b="1" lang="en-US" sz="2000"/>
              <a:t>BELONGS_TO edge:</a:t>
            </a:r>
            <a:r>
              <a:rPr lang="en-US" sz="2000"/>
              <a:t> entity links to category</a:t>
            </a:r>
            <a:endParaRPr sz="2000"/>
          </a:p>
          <a:p>
            <a:pPr indent="-355600" lvl="0" marL="457200" rtl="0" algn="l">
              <a:spcBef>
                <a:spcPts val="0"/>
              </a:spcBef>
              <a:spcAft>
                <a:spcPts val="0"/>
              </a:spcAft>
              <a:buSzPts val="2000"/>
              <a:buChar char="❏"/>
            </a:pPr>
            <a:r>
              <a:rPr b="1" lang="en-US" sz="2000"/>
              <a:t>REGULATED_BY edge:</a:t>
            </a:r>
            <a:r>
              <a:rPr lang="en-US" sz="2000"/>
              <a:t> data point covered by regulation</a:t>
            </a:r>
            <a:endParaRPr b="1" sz="2400"/>
          </a:p>
        </p:txBody>
      </p:sp>
      <p:sp>
        <p:nvSpPr>
          <p:cNvPr id="91" name="Google Shape;91;g3dab3b0c0e2_0_475"/>
          <p:cNvSpPr/>
          <p:nvPr/>
        </p:nvSpPr>
        <p:spPr>
          <a:xfrm>
            <a:off x="4961800" y="3237100"/>
            <a:ext cx="495900" cy="637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g3dab3b0c0e2_0_475"/>
          <p:cNvSpPr txBox="1"/>
          <p:nvPr/>
        </p:nvSpPr>
        <p:spPr>
          <a:xfrm>
            <a:off x="237925" y="5334075"/>
            <a:ext cx="11482800" cy="1132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SzPts val="1500"/>
              <a:buChar char="❏"/>
            </a:pPr>
            <a:r>
              <a:rPr b="1" lang="en-US" sz="2000"/>
              <a:t>Company → Sector </a:t>
            </a:r>
            <a:r>
              <a:rPr lang="en-US" sz="2000"/>
              <a:t>(Example: Apple_Inc. → IT )</a:t>
            </a:r>
            <a:endParaRPr sz="2000"/>
          </a:p>
          <a:p>
            <a:pPr indent="-323850" lvl="0" marL="457200" rtl="0" algn="l">
              <a:lnSpc>
                <a:spcPct val="115000"/>
              </a:lnSpc>
              <a:spcBef>
                <a:spcPts val="0"/>
              </a:spcBef>
              <a:spcAft>
                <a:spcPts val="0"/>
              </a:spcAft>
              <a:buSzPts val="1500"/>
              <a:buChar char="❏"/>
            </a:pPr>
            <a:r>
              <a:rPr b="1" lang="en-US" sz="2000"/>
              <a:t>Company → Entity → Category → DataPoint → Regulation</a:t>
            </a:r>
            <a:br>
              <a:rPr b="1" lang="en-US" sz="2000"/>
            </a:br>
            <a:r>
              <a:rPr b="1" lang="en-US" sz="2000"/>
              <a:t>(</a:t>
            </a:r>
            <a:r>
              <a:rPr lang="en-US" sz="2000"/>
              <a:t>Apple_Inc. </a:t>
            </a:r>
            <a:r>
              <a:rPr b="1" lang="en-US" sz="2000"/>
              <a:t>→</a:t>
            </a:r>
            <a:r>
              <a:rPr lang="en-US" sz="2000"/>
              <a:t> "we" </a:t>
            </a:r>
            <a:r>
              <a:rPr b="1" lang="en-US" sz="2000"/>
              <a:t>→ “</a:t>
            </a:r>
            <a:r>
              <a:rPr lang="en-US" sz="2000"/>
              <a:t>personal information” </a:t>
            </a:r>
            <a:r>
              <a:rPr b="1" lang="en-US" sz="2000"/>
              <a:t>→ </a:t>
            </a:r>
            <a:r>
              <a:rPr lang="en-US" sz="2000"/>
              <a:t>“email address” </a:t>
            </a:r>
            <a:r>
              <a:rPr b="1" lang="en-US" sz="2000"/>
              <a:t>→ </a:t>
            </a:r>
            <a:r>
              <a:rPr lang="en-US" sz="2000"/>
              <a:t>GDPR/CCPA/HIPAA)</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da9f8ea407_0_0"/>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g3da9f8ea407_0_0"/>
          <p:cNvSpPr txBox="1"/>
          <p:nvPr/>
        </p:nvSpPr>
        <p:spPr>
          <a:xfrm>
            <a:off x="1480300" y="147775"/>
            <a:ext cx="9258600" cy="800400"/>
          </a:xfrm>
          <a:prstGeom prst="rect">
            <a:avLst/>
          </a:prstGeom>
          <a:solidFill>
            <a:srgbClr val="001344"/>
          </a:solid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lt1"/>
                </a:solidFill>
                <a:highlight>
                  <a:schemeClr val="dk1"/>
                </a:highlight>
              </a:rPr>
              <a:t>Initial Knowledge Graph</a:t>
            </a:r>
            <a:r>
              <a:rPr b="1" lang="en-US" sz="3000"/>
              <a:t> </a:t>
            </a:r>
            <a:endParaRPr sz="3000"/>
          </a:p>
        </p:txBody>
      </p:sp>
      <p:pic>
        <p:nvPicPr>
          <p:cNvPr id="100" name="Google Shape;100;g3da9f8ea407_0_0" title="PPs_IBM.png"/>
          <p:cNvPicPr preferRelativeResize="0"/>
          <p:nvPr/>
        </p:nvPicPr>
        <p:blipFill>
          <a:blip r:embed="rId3">
            <a:alphaModFix/>
          </a:blip>
          <a:stretch>
            <a:fillRect/>
          </a:stretch>
        </p:blipFill>
        <p:spPr>
          <a:xfrm>
            <a:off x="1731150" y="948175"/>
            <a:ext cx="9068424" cy="5863449"/>
          </a:xfrm>
          <a:prstGeom prst="rect">
            <a:avLst/>
          </a:prstGeom>
          <a:noFill/>
          <a:ln>
            <a:noFill/>
          </a:ln>
        </p:spPr>
      </p:pic>
      <p:sp>
        <p:nvSpPr>
          <p:cNvPr id="101" name="Google Shape;101;g3da9f8ea407_0_0"/>
          <p:cNvSpPr txBox="1"/>
          <p:nvPr/>
        </p:nvSpPr>
        <p:spPr>
          <a:xfrm>
            <a:off x="166575" y="1634475"/>
            <a:ext cx="3491700" cy="10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50">
                <a:solidFill>
                  <a:srgbClr val="1F1F1F"/>
                </a:solidFill>
                <a:highlight>
                  <a:schemeClr val="lt1"/>
                </a:highlight>
                <a:latin typeface="Courier New"/>
                <a:ea typeface="Courier New"/>
                <a:cs typeface="Courier New"/>
                <a:sym typeface="Courier New"/>
              </a:rPr>
              <a:t>Relationship Summary</a:t>
            </a:r>
            <a:r>
              <a:rPr lang="en-US" sz="1850">
                <a:solidFill>
                  <a:srgbClr val="1F1F1F"/>
                </a:solidFill>
                <a:highlight>
                  <a:schemeClr val="lt1"/>
                </a:highlight>
                <a:latin typeface="Courier New"/>
                <a:ea typeface="Courier New"/>
                <a:cs typeface="Courier New"/>
                <a:sym typeface="Courier New"/>
              </a:rPr>
              <a:t> </a:t>
            </a:r>
            <a:endParaRPr sz="18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US" sz="1850">
                <a:solidFill>
                  <a:srgbClr val="1F1F1F"/>
                </a:solidFill>
                <a:highlight>
                  <a:schemeClr val="lt1"/>
                </a:highlight>
                <a:latin typeface="Courier New"/>
                <a:ea typeface="Courier New"/>
                <a:cs typeface="Courier New"/>
                <a:sym typeface="Courier New"/>
              </a:rPr>
              <a:t>COLLECT - 62 edges</a:t>
            </a:r>
            <a:endParaRPr sz="18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US" sz="1850">
                <a:solidFill>
                  <a:srgbClr val="1F1F1F"/>
                </a:solidFill>
                <a:highlight>
                  <a:schemeClr val="lt1"/>
                </a:highlight>
                <a:latin typeface="Courier New"/>
                <a:ea typeface="Courier New"/>
                <a:cs typeface="Courier New"/>
                <a:sym typeface="Courier New"/>
              </a:rPr>
              <a:t>SUBSUM - 10 edges</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ab3b0c0e2_0_531"/>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08" name="Google Shape;108;g3dab3b0c0e2_0_531"/>
          <p:cNvSpPr txBox="1"/>
          <p:nvPr/>
        </p:nvSpPr>
        <p:spPr>
          <a:xfrm>
            <a:off x="1547250" y="90375"/>
            <a:ext cx="8809200" cy="800400"/>
          </a:xfrm>
          <a:prstGeom prst="rect">
            <a:avLst/>
          </a:prstGeom>
          <a:solidFill>
            <a:srgbClr val="001344"/>
          </a:solid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lt1"/>
                </a:solidFill>
                <a:highlight>
                  <a:schemeClr val="dk1"/>
                </a:highlight>
              </a:rPr>
              <a:t>Unified Knowledge Graph</a:t>
            </a:r>
            <a:r>
              <a:rPr b="1" lang="en-US" sz="4000"/>
              <a:t> </a:t>
            </a:r>
            <a:endParaRPr sz="4000"/>
          </a:p>
        </p:txBody>
      </p:sp>
      <p:pic>
        <p:nvPicPr>
          <p:cNvPr id="109" name="Google Shape;109;g3dab3b0c0e2_0_531"/>
          <p:cNvPicPr preferRelativeResize="0"/>
          <p:nvPr/>
        </p:nvPicPr>
        <p:blipFill>
          <a:blip r:embed="rId3">
            <a:alphaModFix/>
          </a:blip>
          <a:stretch>
            <a:fillRect/>
          </a:stretch>
        </p:blipFill>
        <p:spPr>
          <a:xfrm>
            <a:off x="3139225" y="890775"/>
            <a:ext cx="8416601" cy="5967224"/>
          </a:xfrm>
          <a:prstGeom prst="rect">
            <a:avLst/>
          </a:prstGeom>
          <a:noFill/>
          <a:ln>
            <a:noFill/>
          </a:ln>
        </p:spPr>
      </p:pic>
      <p:sp>
        <p:nvSpPr>
          <p:cNvPr id="110" name="Google Shape;110;g3dab3b0c0e2_0_531"/>
          <p:cNvSpPr txBox="1"/>
          <p:nvPr/>
        </p:nvSpPr>
        <p:spPr>
          <a:xfrm>
            <a:off x="215025" y="1662800"/>
            <a:ext cx="3429000" cy="27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50">
                <a:solidFill>
                  <a:srgbClr val="1F1F1F"/>
                </a:solidFill>
                <a:highlight>
                  <a:srgbClr val="FFFFFF"/>
                </a:highlight>
                <a:latin typeface="Courier New"/>
                <a:ea typeface="Courier New"/>
                <a:cs typeface="Courier New"/>
                <a:sym typeface="Courier New"/>
              </a:rPr>
              <a:t>Regulated DATA nodes</a:t>
            </a:r>
            <a:endParaRPr b="1" sz="2050">
              <a:solidFill>
                <a:srgbClr val="1F1F1F"/>
              </a:solidFill>
              <a:highlight>
                <a:srgbClr val="FFFFFF"/>
              </a:highlight>
              <a:latin typeface="Courier New"/>
              <a:ea typeface="Courier New"/>
              <a:cs typeface="Courier New"/>
              <a:sym typeface="Courier New"/>
            </a:endParaRPr>
          </a:p>
          <a:p>
            <a:pPr indent="-365125" lvl="0" marL="457200" rtl="0" algn="l">
              <a:spcBef>
                <a:spcPts val="0"/>
              </a:spcBef>
              <a:spcAft>
                <a:spcPts val="0"/>
              </a:spcAft>
              <a:buClr>
                <a:srgbClr val="1F1F1F"/>
              </a:buClr>
              <a:buSzPts val="2150"/>
              <a:buFont typeface="Courier New"/>
              <a:buChar char="❏"/>
            </a:pPr>
            <a:r>
              <a:rPr lang="en-US" sz="2150">
                <a:solidFill>
                  <a:srgbClr val="1F1F1F"/>
                </a:solidFill>
                <a:highlight>
                  <a:srgbClr val="FFFFFF"/>
                </a:highlight>
                <a:latin typeface="Courier New"/>
                <a:ea typeface="Courier New"/>
                <a:cs typeface="Courier New"/>
                <a:sym typeface="Courier New"/>
              </a:rPr>
              <a:t>email address                            </a:t>
            </a:r>
            <a:endParaRPr sz="2150">
              <a:solidFill>
                <a:srgbClr val="1F1F1F"/>
              </a:solidFill>
              <a:highlight>
                <a:srgbClr val="FFFFFF"/>
              </a:highlight>
              <a:latin typeface="Courier New"/>
              <a:ea typeface="Courier New"/>
              <a:cs typeface="Courier New"/>
              <a:sym typeface="Courier New"/>
            </a:endParaRPr>
          </a:p>
          <a:p>
            <a:pPr indent="-365125" lvl="0" marL="457200" rtl="0" algn="l">
              <a:spcBef>
                <a:spcPts val="0"/>
              </a:spcBef>
              <a:spcAft>
                <a:spcPts val="0"/>
              </a:spcAft>
              <a:buClr>
                <a:srgbClr val="1F1F1F"/>
              </a:buClr>
              <a:buSzPts val="2150"/>
              <a:buFont typeface="Courier New"/>
              <a:buChar char="❏"/>
            </a:pPr>
            <a:r>
              <a:rPr lang="en-US" sz="2150">
                <a:solidFill>
                  <a:srgbClr val="1F1F1F"/>
                </a:solidFill>
                <a:highlight>
                  <a:srgbClr val="FFFFFF"/>
                </a:highlight>
                <a:latin typeface="Courier New"/>
                <a:ea typeface="Courier New"/>
                <a:cs typeface="Courier New"/>
                <a:sym typeface="Courier New"/>
              </a:rPr>
              <a:t>ip address                                  </a:t>
            </a:r>
            <a:endParaRPr sz="2150">
              <a:solidFill>
                <a:srgbClr val="1F1F1F"/>
              </a:solidFill>
              <a:highlight>
                <a:srgbClr val="FFFFFF"/>
              </a:highlight>
              <a:latin typeface="Courier New"/>
              <a:ea typeface="Courier New"/>
              <a:cs typeface="Courier New"/>
              <a:sym typeface="Courier New"/>
            </a:endParaRPr>
          </a:p>
          <a:p>
            <a:pPr indent="-365125" lvl="0" marL="457200" rtl="0" algn="l">
              <a:spcBef>
                <a:spcPts val="0"/>
              </a:spcBef>
              <a:spcAft>
                <a:spcPts val="0"/>
              </a:spcAft>
              <a:buClr>
                <a:srgbClr val="1F1F1F"/>
              </a:buClr>
              <a:buSzPts val="2150"/>
              <a:buFont typeface="Courier New"/>
              <a:buChar char="❏"/>
            </a:pPr>
            <a:r>
              <a:rPr lang="en-US" sz="2150">
                <a:solidFill>
                  <a:srgbClr val="1F1F1F"/>
                </a:solidFill>
                <a:highlight>
                  <a:srgbClr val="FFFFFF"/>
                </a:highlight>
                <a:latin typeface="Courier New"/>
                <a:ea typeface="Courier New"/>
                <a:cs typeface="Courier New"/>
                <a:sym typeface="Courier New"/>
              </a:rPr>
              <a:t>person name                                  </a:t>
            </a:r>
            <a:endParaRPr sz="2150">
              <a:solidFill>
                <a:srgbClr val="1F1F1F"/>
              </a:solidFill>
              <a:highlight>
                <a:srgbClr val="FFFFFF"/>
              </a:highlight>
              <a:latin typeface="Courier New"/>
              <a:ea typeface="Courier New"/>
              <a:cs typeface="Courier New"/>
              <a:sym typeface="Courier New"/>
            </a:endParaRPr>
          </a:p>
          <a:p>
            <a:pPr indent="-365125" lvl="0" marL="457200" rtl="0" algn="l">
              <a:spcBef>
                <a:spcPts val="0"/>
              </a:spcBef>
              <a:spcAft>
                <a:spcPts val="0"/>
              </a:spcAft>
              <a:buClr>
                <a:srgbClr val="1F1F1F"/>
              </a:buClr>
              <a:buSzPts val="2150"/>
              <a:buFont typeface="Courier New"/>
              <a:buChar char="❏"/>
            </a:pPr>
            <a:r>
              <a:rPr lang="en-US" sz="2150">
                <a:solidFill>
                  <a:srgbClr val="1F1F1F"/>
                </a:solidFill>
                <a:highlight>
                  <a:srgbClr val="FFFFFF"/>
                </a:highlight>
                <a:latin typeface="Courier New"/>
                <a:ea typeface="Courier New"/>
                <a:cs typeface="Courier New"/>
                <a:sym typeface="Courier New"/>
              </a:rPr>
              <a:t>postal address</a:t>
            </a:r>
            <a:r>
              <a:rPr lang="en-US" sz="1450">
                <a:solidFill>
                  <a:srgbClr val="1F1F1F"/>
                </a:solidFill>
                <a:highlight>
                  <a:srgbClr val="FFFFFF"/>
                </a:highlight>
                <a:latin typeface="Courier New"/>
                <a:ea typeface="Courier New"/>
                <a:cs typeface="Courier New"/>
                <a:sym typeface="Courier New"/>
              </a:rPr>
              <a:t>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da9f8ea407_0_25"/>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344"/>
                </a:solidFill>
              </a:rPr>
              <a:t>Final Dataset Description</a:t>
            </a:r>
            <a:r>
              <a:rPr lang="en-US" sz="3000">
                <a:solidFill>
                  <a:srgbClr val="001344"/>
                </a:solidFill>
              </a:rPr>
              <a:t> </a:t>
            </a:r>
            <a:endParaRPr b="0" i="0" sz="3000" u="none" cap="none" strike="noStrike">
              <a:solidFill>
                <a:srgbClr val="001344"/>
              </a:solidFill>
              <a:latin typeface="Arial"/>
              <a:ea typeface="Arial"/>
              <a:cs typeface="Arial"/>
              <a:sym typeface="Arial"/>
            </a:endParaRPr>
          </a:p>
        </p:txBody>
      </p:sp>
      <p:sp>
        <p:nvSpPr>
          <p:cNvPr id="116" name="Google Shape;116;g3da9f8ea407_0_25"/>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17" name="Google Shape;117;g3da9f8ea407_0_25"/>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18" name="Google Shape;118;g3da9f8ea407_0_25"/>
          <p:cNvSpPr txBox="1"/>
          <p:nvPr/>
        </p:nvSpPr>
        <p:spPr>
          <a:xfrm>
            <a:off x="393600" y="1832825"/>
            <a:ext cx="11326800" cy="4364100"/>
          </a:xfrm>
          <a:prstGeom prst="rect">
            <a:avLst/>
          </a:prstGeom>
          <a:solidFill>
            <a:srgbClr val="001344"/>
          </a:solid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lt1"/>
              </a:buClr>
              <a:buSzPts val="2400"/>
              <a:buChar char="❏"/>
            </a:pPr>
            <a:r>
              <a:rPr lang="en-US" sz="2400">
                <a:solidFill>
                  <a:schemeClr val="lt1"/>
                </a:solidFill>
              </a:rPr>
              <a:t>Privacy policies from </a:t>
            </a:r>
            <a:r>
              <a:rPr b="1" lang="en-US" sz="2400">
                <a:solidFill>
                  <a:schemeClr val="lt1"/>
                </a:solidFill>
              </a:rPr>
              <a:t>184</a:t>
            </a:r>
            <a:r>
              <a:rPr lang="en-US" sz="2400">
                <a:solidFill>
                  <a:schemeClr val="lt1"/>
                </a:solidFill>
              </a:rPr>
              <a:t> </a:t>
            </a:r>
            <a:r>
              <a:rPr i="1" lang="en-US" sz="2400">
                <a:solidFill>
                  <a:schemeClr val="lt1"/>
                </a:solidFill>
              </a:rPr>
              <a:t>S&amp;P 500 companies</a:t>
            </a:r>
            <a:r>
              <a:rPr lang="en-US" sz="2400">
                <a:solidFill>
                  <a:schemeClr val="lt1"/>
                </a:solidFill>
              </a:rPr>
              <a:t> represented as </a:t>
            </a:r>
            <a:r>
              <a:rPr b="1" i="1" lang="en-US" sz="2400">
                <a:solidFill>
                  <a:schemeClr val="lt1"/>
                </a:solidFill>
              </a:rPr>
              <a:t>GraphML</a:t>
            </a:r>
            <a:r>
              <a:rPr lang="en-US" sz="2400">
                <a:solidFill>
                  <a:schemeClr val="lt1"/>
                </a:solidFill>
              </a:rPr>
              <a:t> knowledge graphs across </a:t>
            </a:r>
            <a:r>
              <a:rPr b="1" i="1" lang="en-US" sz="2400">
                <a:solidFill>
                  <a:schemeClr val="lt1"/>
                </a:solidFill>
              </a:rPr>
              <a:t>Healthcare</a:t>
            </a:r>
            <a:r>
              <a:rPr i="1" lang="en-US" sz="2400">
                <a:solidFill>
                  <a:schemeClr val="lt1"/>
                </a:solidFill>
              </a:rPr>
              <a:t> </a:t>
            </a:r>
            <a:r>
              <a:rPr lang="en-US" sz="2400">
                <a:solidFill>
                  <a:schemeClr val="lt1"/>
                </a:solidFill>
              </a:rPr>
              <a:t>(56)</a:t>
            </a:r>
            <a:r>
              <a:rPr i="1" lang="en-US" sz="2400">
                <a:solidFill>
                  <a:schemeClr val="lt1"/>
                </a:solidFill>
              </a:rPr>
              <a:t>, </a:t>
            </a:r>
            <a:r>
              <a:rPr b="1" i="1" lang="en-US" sz="2400">
                <a:solidFill>
                  <a:schemeClr val="lt1"/>
                </a:solidFill>
              </a:rPr>
              <a:t>IT</a:t>
            </a:r>
            <a:r>
              <a:rPr i="1" lang="en-US" sz="2400">
                <a:solidFill>
                  <a:schemeClr val="lt1"/>
                </a:solidFill>
              </a:rPr>
              <a:t> </a:t>
            </a:r>
            <a:r>
              <a:rPr lang="en-US" sz="2400">
                <a:solidFill>
                  <a:schemeClr val="lt1"/>
                </a:solidFill>
              </a:rPr>
              <a:t>(66)</a:t>
            </a:r>
            <a:r>
              <a:rPr i="1" lang="en-US" sz="2400">
                <a:solidFill>
                  <a:schemeClr val="lt1"/>
                </a:solidFill>
              </a:rPr>
              <a:t>, and </a:t>
            </a:r>
            <a:r>
              <a:rPr b="1" i="1" lang="en-US" sz="2400">
                <a:solidFill>
                  <a:schemeClr val="lt1"/>
                </a:solidFill>
              </a:rPr>
              <a:t>Financial </a:t>
            </a:r>
            <a:r>
              <a:rPr lang="en-US" sz="2400">
                <a:solidFill>
                  <a:schemeClr val="lt1"/>
                </a:solidFill>
              </a:rPr>
              <a:t>(62)</a:t>
            </a:r>
            <a:r>
              <a:rPr i="1" lang="en-US" sz="2400">
                <a:solidFill>
                  <a:schemeClr val="lt1"/>
                </a:solidFill>
              </a:rPr>
              <a:t> sectors</a:t>
            </a:r>
            <a:endParaRPr i="1"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US" sz="2400">
                <a:solidFill>
                  <a:schemeClr val="lt1"/>
                </a:solidFill>
              </a:rPr>
              <a:t>Graph structure models actors collecting data, data categories, and relationships using </a:t>
            </a:r>
            <a:r>
              <a:rPr b="1" lang="en-US" sz="2400">
                <a:solidFill>
                  <a:schemeClr val="lt1"/>
                </a:solidFill>
              </a:rPr>
              <a:t>COLLECT</a:t>
            </a:r>
            <a:r>
              <a:rPr lang="en-US" sz="2400">
                <a:solidFill>
                  <a:schemeClr val="lt1"/>
                </a:solidFill>
              </a:rPr>
              <a:t> and </a:t>
            </a:r>
            <a:r>
              <a:rPr b="1" lang="en-US" sz="2400">
                <a:solidFill>
                  <a:schemeClr val="lt1"/>
                </a:solidFill>
              </a:rPr>
              <a:t>SUBSUM</a:t>
            </a:r>
            <a:r>
              <a:rPr lang="en-US" sz="2400">
                <a:solidFill>
                  <a:schemeClr val="lt1"/>
                </a:solidFill>
              </a:rPr>
              <a:t> edges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US" sz="2400">
                <a:solidFill>
                  <a:schemeClr val="lt1"/>
                </a:solidFill>
              </a:rPr>
              <a:t>Preprocessing pipeline extracts </a:t>
            </a:r>
            <a:r>
              <a:rPr lang="en-US" sz="2400">
                <a:solidFill>
                  <a:schemeClr val="lt1"/>
                </a:solidFill>
              </a:rPr>
              <a:t>quadruples </a:t>
            </a:r>
            <a:r>
              <a:rPr lang="en-US" sz="2400">
                <a:solidFill>
                  <a:schemeClr val="lt1"/>
                </a:solidFill>
              </a:rPr>
              <a:t>(</a:t>
            </a:r>
            <a:r>
              <a:rPr b="1" lang="en-US" sz="2400">
                <a:solidFill>
                  <a:schemeClr val="lt1"/>
                </a:solidFill>
              </a:rPr>
              <a:t>company, entity, category, data point)</a:t>
            </a:r>
            <a:r>
              <a:rPr lang="en-US" sz="2400">
                <a:solidFill>
                  <a:schemeClr val="lt1"/>
                </a:solidFill>
              </a:rPr>
              <a:t> and removes placeholder nodes before analysis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US" sz="2400">
                <a:solidFill>
                  <a:schemeClr val="lt1"/>
                </a:solidFill>
              </a:rPr>
              <a:t>Data points are mapped to </a:t>
            </a:r>
            <a:r>
              <a:rPr b="1" i="1" lang="en-US" sz="2400">
                <a:solidFill>
                  <a:schemeClr val="lt1"/>
                </a:solidFill>
              </a:rPr>
              <a:t>GDPR, CCPA,</a:t>
            </a:r>
            <a:r>
              <a:rPr lang="en-US" sz="2400">
                <a:solidFill>
                  <a:schemeClr val="lt1"/>
                </a:solidFill>
              </a:rPr>
              <a:t> and </a:t>
            </a:r>
            <a:r>
              <a:rPr b="1" i="1" lang="en-US" sz="2400">
                <a:solidFill>
                  <a:schemeClr val="lt1"/>
                </a:solidFill>
              </a:rPr>
              <a:t>HIPAA</a:t>
            </a:r>
            <a:r>
              <a:rPr lang="en-US" sz="2400">
                <a:solidFill>
                  <a:schemeClr val="lt1"/>
                </a:solidFill>
              </a:rPr>
              <a:t> regulatory vocabularies using official definitions from legal sources</a:t>
            </a:r>
            <a:endParaRPr sz="2400">
              <a:solidFill>
                <a:schemeClr val="lt1"/>
              </a:solidFill>
            </a:endParaRPr>
          </a:p>
          <a:p>
            <a:pPr indent="0" lvl="0" marL="457200" rtl="0" algn="l">
              <a:spcBef>
                <a:spcPts val="1200"/>
              </a:spcBef>
              <a:spcAft>
                <a:spcPts val="0"/>
              </a:spcAft>
              <a:buNone/>
            </a:pPr>
            <a:r>
              <a:t/>
            </a:r>
            <a:endParaRPr sz="2400"/>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dad1f596eb_3_29"/>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5" name="Google Shape;125;g3dad1f596eb_3_29"/>
          <p:cNvSpPr txBox="1"/>
          <p:nvPr/>
        </p:nvSpPr>
        <p:spPr>
          <a:xfrm>
            <a:off x="3271325" y="165725"/>
            <a:ext cx="5100900" cy="764100"/>
          </a:xfrm>
          <a:prstGeom prst="rect">
            <a:avLst/>
          </a:prstGeom>
          <a:solidFill>
            <a:srgbClr val="00124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chemeClr val="lt1"/>
                </a:solidFill>
              </a:rPr>
              <a:t>Updated Framework</a:t>
            </a:r>
            <a:endParaRPr b="1" sz="4000">
              <a:solidFill>
                <a:schemeClr val="lt1"/>
              </a:solidFill>
            </a:endParaRPr>
          </a:p>
        </p:txBody>
      </p:sp>
      <p:sp>
        <p:nvSpPr>
          <p:cNvPr id="126" name="Google Shape;126;g3dad1f596eb_3_29"/>
          <p:cNvSpPr/>
          <p:nvPr/>
        </p:nvSpPr>
        <p:spPr>
          <a:xfrm>
            <a:off x="137160" y="1125415"/>
            <a:ext cx="2240400" cy="5303400"/>
          </a:xfrm>
          <a:prstGeom prst="rect">
            <a:avLst/>
          </a:prstGeom>
          <a:solidFill>
            <a:srgbClr val="FFFFFF"/>
          </a:solidFill>
          <a:ln cap="flat" cmpd="sng" w="19050">
            <a:solidFill>
              <a:srgbClr val="1F49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700" u="none" cap="none" strike="noStrike">
                <a:solidFill>
                  <a:srgbClr val="001344"/>
                </a:solidFill>
                <a:latin typeface="Calibri"/>
                <a:ea typeface="Calibri"/>
                <a:cs typeface="Calibri"/>
                <a:sym typeface="Calibri"/>
              </a:rPr>
              <a:t>① </a:t>
            </a:r>
            <a:r>
              <a:rPr b="1" i="0" lang="en-US" sz="2000" u="none" cap="none" strike="noStrike">
                <a:solidFill>
                  <a:srgbClr val="001344"/>
                </a:solidFill>
                <a:latin typeface="Calibri"/>
                <a:ea typeface="Calibri"/>
                <a:cs typeface="Calibri"/>
                <a:sym typeface="Calibri"/>
              </a:rPr>
              <a:t>DATA INGESTION &amp; EDA</a:t>
            </a:r>
            <a:endParaRPr b="1" sz="1600">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Collect policy files</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Load GraphML on Healthcare, IT, Financial (184 S&amp;P 500 companies)</a:t>
            </a:r>
            <a:endParaRPr>
              <a:solidFill>
                <a:srgbClr val="001344"/>
              </a:solidFill>
            </a:endParaRPr>
          </a:p>
          <a:p>
            <a:pPr indent="0" lvl="0" marL="0" marR="0" rtl="0" algn="ctr">
              <a:spcBef>
                <a:spcPts val="800"/>
              </a:spcBef>
              <a:spcAft>
                <a:spcPts val="0"/>
              </a:spcAft>
              <a:buNone/>
            </a:pPr>
            <a:r>
              <a:t/>
            </a:r>
            <a:endParaRPr b="0" i="0" sz="1600" u="none" cap="none" strike="noStrike">
              <a:solidFill>
                <a:srgbClr val="001344"/>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Nodes</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Clauses · Types · Entities</a:t>
            </a:r>
            <a:endParaRPr>
              <a:solidFill>
                <a:srgbClr val="001344"/>
              </a:solidFill>
            </a:endParaRPr>
          </a:p>
          <a:p>
            <a:pPr indent="0" lvl="0" marL="0" marR="0" rtl="0" algn="ctr">
              <a:spcBef>
                <a:spcPts val="800"/>
              </a:spcBef>
              <a:spcAft>
                <a:spcPts val="0"/>
              </a:spcAft>
              <a:buNone/>
            </a:pPr>
            <a:r>
              <a:t/>
            </a:r>
            <a:endParaRPr b="0" i="0" sz="1600" u="none" cap="none" strike="noStrike">
              <a:solidFill>
                <a:srgbClr val="001344"/>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Edges</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Shares · Requires · Collects</a:t>
            </a:r>
            <a:endParaRPr>
              <a:solidFill>
                <a:srgbClr val="001344"/>
              </a:solidFill>
            </a:endParaRPr>
          </a:p>
          <a:p>
            <a:pPr indent="0" lvl="0" marL="0" marR="0" rtl="0" algn="ctr">
              <a:spcBef>
                <a:spcPts val="800"/>
              </a:spcBef>
              <a:spcAft>
                <a:spcPts val="0"/>
              </a:spcAft>
              <a:buNone/>
            </a:pPr>
            <a:r>
              <a:t/>
            </a:r>
            <a:endParaRPr b="0" i="0" sz="1200" u="none" cap="none" strike="noStrike">
              <a:solidFill>
                <a:srgbClr val="001344"/>
              </a:solidFill>
              <a:latin typeface="Calibri"/>
              <a:ea typeface="Calibri"/>
              <a:cs typeface="Calibri"/>
              <a:sym typeface="Calibri"/>
            </a:endParaRPr>
          </a:p>
        </p:txBody>
      </p:sp>
      <p:sp>
        <p:nvSpPr>
          <p:cNvPr id="127" name="Google Shape;127;g3dad1f596eb_3_29"/>
          <p:cNvSpPr/>
          <p:nvPr/>
        </p:nvSpPr>
        <p:spPr>
          <a:xfrm>
            <a:off x="2487168" y="1125415"/>
            <a:ext cx="2240400" cy="5303400"/>
          </a:xfrm>
          <a:prstGeom prst="rect">
            <a:avLst/>
          </a:prstGeom>
          <a:solidFill>
            <a:srgbClr val="001344"/>
          </a:solidFill>
          <a:ln cap="flat" cmpd="sng" w="19050">
            <a:solidFill>
              <a:srgbClr val="1F49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Calibri"/>
                <a:ea typeface="Calibri"/>
                <a:cs typeface="Calibri"/>
                <a:sym typeface="Calibri"/>
              </a:rPr>
              <a:t>② PREPROCESSING &amp; CLEANING</a:t>
            </a:r>
            <a:endParaRPr sz="1600"/>
          </a:p>
          <a:p>
            <a:pPr indent="0" lvl="0" marL="0" marR="0" rtl="0" algn="ctr">
              <a:spcBef>
                <a:spcPts val="800"/>
              </a:spcBef>
              <a:spcAft>
                <a:spcPts val="0"/>
              </a:spcAft>
              <a:buNone/>
            </a:pPr>
            <a:r>
              <a:rPr b="0" i="0" lang="en-US" sz="1600" u="none" cap="none" strike="noStrike">
                <a:solidFill>
                  <a:schemeClr val="lt1"/>
                </a:solidFill>
                <a:latin typeface="Calibri"/>
                <a:ea typeface="Calibri"/>
                <a:cs typeface="Calibri"/>
                <a:sym typeface="Calibri"/>
              </a:rPr>
              <a:t>Normalize labels</a:t>
            </a:r>
            <a:endParaRPr/>
          </a:p>
          <a:p>
            <a:pPr indent="0" lvl="0" marL="0" marR="0" rtl="0" algn="ctr">
              <a:spcBef>
                <a:spcPts val="800"/>
              </a:spcBef>
              <a:spcAft>
                <a:spcPts val="0"/>
              </a:spcAft>
              <a:buNone/>
            </a:pPr>
            <a:r>
              <a:rPr b="0" i="0" lang="en-US" sz="1600" u="none" cap="none" strike="noStrike">
                <a:solidFill>
                  <a:schemeClr val="lt1"/>
                </a:solidFill>
                <a:latin typeface="Calibri"/>
                <a:ea typeface="Calibri"/>
                <a:cs typeface="Calibri"/>
                <a:sym typeface="Calibri"/>
              </a:rPr>
              <a:t>Filter unspecified data</a:t>
            </a:r>
            <a:endParaRPr b="0" i="0" sz="1600" u="none" cap="none" strike="noStrike">
              <a:solidFill>
                <a:schemeClr val="lt1"/>
              </a:solidFill>
              <a:latin typeface="Calibri"/>
              <a:ea typeface="Calibri"/>
              <a:cs typeface="Calibri"/>
              <a:sym typeface="Calibri"/>
            </a:endParaRPr>
          </a:p>
        </p:txBody>
      </p:sp>
      <p:sp>
        <p:nvSpPr>
          <p:cNvPr id="128" name="Google Shape;128;g3dad1f596eb_3_29"/>
          <p:cNvSpPr/>
          <p:nvPr/>
        </p:nvSpPr>
        <p:spPr>
          <a:xfrm>
            <a:off x="4837176" y="1125415"/>
            <a:ext cx="2240400" cy="5303400"/>
          </a:xfrm>
          <a:prstGeom prst="rect">
            <a:avLst/>
          </a:prstGeom>
          <a:solidFill>
            <a:srgbClr val="FFFFFF"/>
          </a:solidFill>
          <a:ln cap="flat" cmpd="sng" w="19050">
            <a:solidFill>
              <a:srgbClr val="1F49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001344"/>
                </a:solidFill>
                <a:latin typeface="Calibri"/>
                <a:ea typeface="Calibri"/>
                <a:cs typeface="Calibri"/>
                <a:sym typeface="Calibri"/>
              </a:rPr>
              <a:t>③ FEATURE EXTRACTION</a:t>
            </a:r>
            <a:endParaRPr sz="2000">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Quadruple extraction</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(company, entity, category, data point)</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COLLECT + SUBSUM relationships</a:t>
            </a:r>
            <a:endParaRPr>
              <a:solidFill>
                <a:srgbClr val="001344"/>
              </a:solidFill>
            </a:endParaRPr>
          </a:p>
        </p:txBody>
      </p:sp>
      <p:sp>
        <p:nvSpPr>
          <p:cNvPr id="129" name="Google Shape;129;g3dad1f596eb_3_29"/>
          <p:cNvSpPr/>
          <p:nvPr/>
        </p:nvSpPr>
        <p:spPr>
          <a:xfrm>
            <a:off x="7187184" y="1125415"/>
            <a:ext cx="2240400" cy="5303400"/>
          </a:xfrm>
          <a:prstGeom prst="rect">
            <a:avLst/>
          </a:prstGeom>
          <a:solidFill>
            <a:srgbClr val="001344"/>
          </a:solidFill>
          <a:ln cap="flat" cmpd="sng" w="19050">
            <a:solidFill>
              <a:srgbClr val="1F49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Calibri"/>
                <a:ea typeface="Calibri"/>
                <a:cs typeface="Calibri"/>
                <a:sym typeface="Calibri"/>
              </a:rPr>
              <a:t>④ KG CONSTRUCTION &amp; ANALYSIS</a:t>
            </a:r>
            <a:endParaRPr b="1" i="0" sz="20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chemeClr val="lt1"/>
                </a:solidFill>
                <a:latin typeface="Calibri"/>
                <a:ea typeface="Calibri"/>
                <a:cs typeface="Calibri"/>
                <a:sym typeface="Calibri"/>
              </a:rPr>
              <a:t>Initial Knowledge Graph:</a:t>
            </a:r>
            <a:r>
              <a:rPr lang="en-US" sz="1600">
                <a:solidFill>
                  <a:schemeClr val="lt1"/>
                </a:solidFill>
                <a:latin typeface="Calibri"/>
                <a:ea typeface="Calibri"/>
                <a:cs typeface="Calibri"/>
                <a:sym typeface="Calibri"/>
              </a:rPr>
              <a:t> Actor-Data-Collect</a:t>
            </a:r>
            <a:br>
              <a:rPr lang="en-US" sz="1600">
                <a:solidFill>
                  <a:schemeClr val="lt1"/>
                </a:solidFill>
                <a:latin typeface="Calibri"/>
                <a:ea typeface="Calibri"/>
                <a:cs typeface="Calibri"/>
                <a:sym typeface="Calibri"/>
              </a:rPr>
            </a:br>
            <a:r>
              <a:rPr lang="en-US" sz="1600">
                <a:solidFill>
                  <a:schemeClr val="lt1"/>
                </a:solidFill>
                <a:latin typeface="Calibri"/>
                <a:ea typeface="Calibri"/>
                <a:cs typeface="Calibri"/>
                <a:sym typeface="Calibri"/>
              </a:rPr>
              <a:t>-Subsum</a:t>
            </a:r>
            <a:endParaRPr b="0" i="0" sz="1600" u="none" cap="none" strike="noStrike">
              <a:solidFill>
                <a:schemeClr val="lt1"/>
              </a:solidFill>
              <a:latin typeface="Calibri"/>
              <a:ea typeface="Calibri"/>
              <a:cs typeface="Calibri"/>
              <a:sym typeface="Calibri"/>
            </a:endParaRPr>
          </a:p>
          <a:p>
            <a:pPr indent="0" lvl="0" marL="0" marR="0" rtl="0" algn="ctr">
              <a:spcBef>
                <a:spcPts val="800"/>
              </a:spcBef>
              <a:spcAft>
                <a:spcPts val="0"/>
              </a:spcAft>
              <a:buNone/>
            </a:pPr>
            <a:r>
              <a:t/>
            </a:r>
            <a:endParaRPr b="0" i="0" sz="1600" u="none" cap="none" strike="noStrike">
              <a:solidFill>
                <a:schemeClr val="lt1"/>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chemeClr val="lt1"/>
                </a:solidFill>
                <a:latin typeface="Calibri"/>
                <a:ea typeface="Calibri"/>
                <a:cs typeface="Calibri"/>
                <a:sym typeface="Calibri"/>
              </a:rPr>
              <a:t>Unified Knowledge Graphs: Company</a:t>
            </a:r>
            <a:r>
              <a:rPr lang="en-US" sz="1600">
                <a:solidFill>
                  <a:schemeClr val="lt1"/>
                </a:solidFill>
                <a:latin typeface="Calibri"/>
                <a:ea typeface="Calibri"/>
                <a:cs typeface="Calibri"/>
                <a:sym typeface="Calibri"/>
              </a:rPr>
              <a:t> </a:t>
            </a:r>
            <a:r>
              <a:rPr b="0" i="0" lang="en-US" sz="1600" u="none" cap="none" strike="noStrike">
                <a:solidFill>
                  <a:schemeClr val="lt1"/>
                </a:solidFill>
                <a:latin typeface="Calibri"/>
                <a:ea typeface="Calibri"/>
                <a:cs typeface="Calibri"/>
                <a:sym typeface="Calibri"/>
              </a:rPr>
              <a:t>Sector</a:t>
            </a:r>
            <a:br>
              <a:rPr lang="en-US" sz="1600">
                <a:solidFill>
                  <a:schemeClr val="lt1"/>
                </a:solidFill>
                <a:latin typeface="Calibri"/>
                <a:ea typeface="Calibri"/>
                <a:cs typeface="Calibri"/>
                <a:sym typeface="Calibri"/>
              </a:rPr>
            </a:br>
            <a:r>
              <a:rPr b="0" i="0" lang="en-US" sz="1600" u="none" cap="none" strike="noStrike">
                <a:solidFill>
                  <a:schemeClr val="lt1"/>
                </a:solidFill>
                <a:latin typeface="Calibri"/>
                <a:ea typeface="Calibri"/>
                <a:cs typeface="Calibri"/>
                <a:sym typeface="Calibri"/>
              </a:rPr>
              <a:t>Regulat</a:t>
            </a:r>
            <a:r>
              <a:rPr b="0" i="0" lang="en-US" sz="1600" u="none" cap="none" strike="noStrike">
                <a:solidFill>
                  <a:schemeClr val="lt1"/>
                </a:solidFill>
                <a:latin typeface="Calibri"/>
                <a:ea typeface="Calibri"/>
                <a:cs typeface="Calibri"/>
                <a:sym typeface="Calibri"/>
              </a:rPr>
              <a:t>ion </a:t>
            </a:r>
            <a:r>
              <a:rPr b="0" i="0" lang="en-US" sz="1600" u="none" cap="none" strike="noStrike">
                <a:solidFill>
                  <a:schemeClr val="lt1"/>
                </a:solidFill>
                <a:latin typeface="Calibri"/>
                <a:ea typeface="Calibri"/>
                <a:cs typeface="Calibri"/>
                <a:sym typeface="Calibri"/>
              </a:rPr>
              <a:t>Nodes</a:t>
            </a:r>
            <a:endParaRPr/>
          </a:p>
          <a:p>
            <a:pPr indent="0" lvl="0" marL="0" marR="0" rtl="0" algn="ctr">
              <a:spcBef>
                <a:spcPts val="800"/>
              </a:spcBef>
              <a:spcAft>
                <a:spcPts val="0"/>
              </a:spcAft>
              <a:buNone/>
            </a:pPr>
            <a:r>
              <a:t/>
            </a:r>
            <a:endParaRPr b="0" i="0" sz="1600" u="none" cap="none" strike="noStrike">
              <a:solidFill>
                <a:schemeClr val="lt1"/>
              </a:solidFill>
              <a:latin typeface="Calibri"/>
              <a:ea typeface="Calibri"/>
              <a:cs typeface="Calibri"/>
              <a:sym typeface="Calibri"/>
            </a:endParaRPr>
          </a:p>
        </p:txBody>
      </p:sp>
      <p:sp>
        <p:nvSpPr>
          <p:cNvPr id="130" name="Google Shape;130;g3dad1f596eb_3_29"/>
          <p:cNvSpPr/>
          <p:nvPr/>
        </p:nvSpPr>
        <p:spPr>
          <a:xfrm>
            <a:off x="9537192" y="1125415"/>
            <a:ext cx="2240400" cy="5303400"/>
          </a:xfrm>
          <a:prstGeom prst="rect">
            <a:avLst/>
          </a:prstGeom>
          <a:solidFill>
            <a:srgbClr val="FFFFFF"/>
          </a:solidFill>
          <a:ln cap="flat" cmpd="sng" w="19050">
            <a:solidFill>
              <a:srgbClr val="1F497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001344"/>
                </a:solidFill>
                <a:latin typeface="Calibri"/>
                <a:ea typeface="Calibri"/>
                <a:cs typeface="Calibri"/>
                <a:sym typeface="Calibri"/>
              </a:rPr>
              <a:t>⑤ Analysis</a:t>
            </a:r>
            <a:endParaRPr sz="2000">
              <a:solidFill>
                <a:srgbClr val="001344"/>
              </a:solidFill>
            </a:endParaRPr>
          </a:p>
          <a:p>
            <a:pPr indent="0" lvl="0" marL="0" marR="0" rtl="0" algn="ctr">
              <a:spcBef>
                <a:spcPts val="0"/>
              </a:spcBef>
              <a:spcAft>
                <a:spcPts val="0"/>
              </a:spcAft>
              <a:buNone/>
            </a:pPr>
            <a:r>
              <a:t/>
            </a:r>
            <a:endParaRPr b="1" i="0" sz="1600" u="none" cap="none" strike="noStrike">
              <a:solidFill>
                <a:srgbClr val="1F497D"/>
              </a:solidFill>
              <a:latin typeface="Calibri"/>
              <a:ea typeface="Calibri"/>
              <a:cs typeface="Calibri"/>
              <a:sym typeface="Calibri"/>
            </a:endParaRPr>
          </a:p>
          <a:p>
            <a:pPr indent="0" lvl="0" marL="0" marR="0" rtl="0" algn="ctr">
              <a:spcBef>
                <a:spcPts val="800"/>
              </a:spcBef>
              <a:spcAft>
                <a:spcPts val="0"/>
              </a:spcAft>
              <a:buNone/>
            </a:pPr>
            <a:r>
              <a:rPr lang="en-US" sz="1600">
                <a:solidFill>
                  <a:srgbClr val="001344"/>
                </a:solidFill>
                <a:latin typeface="Calibri"/>
                <a:ea typeface="Calibri"/>
                <a:cs typeface="Calibri"/>
                <a:sym typeface="Calibri"/>
              </a:rPr>
              <a:t>Graph Algorithms:</a:t>
            </a:r>
            <a:r>
              <a:rPr b="0" i="0" lang="en-US" sz="1600" u="none" cap="none" strike="noStrike">
                <a:solidFill>
                  <a:srgbClr val="001344"/>
                </a:solidFill>
                <a:latin typeface="Calibri"/>
                <a:ea typeface="Calibri"/>
                <a:cs typeface="Calibri"/>
                <a:sym typeface="Calibri"/>
              </a:rPr>
              <a:t>      BFS-DFS-Shortest Path</a:t>
            </a:r>
            <a:endParaRPr>
              <a:solidFill>
                <a:srgbClr val="001344"/>
              </a:solidFill>
            </a:endParaRPr>
          </a:p>
          <a:p>
            <a:pPr indent="0" lvl="0" marL="0" marR="0" rtl="0" algn="ctr">
              <a:spcBef>
                <a:spcPts val="800"/>
              </a:spcBef>
              <a:spcAft>
                <a:spcPts val="0"/>
              </a:spcAft>
              <a:buNone/>
            </a:pPr>
            <a:r>
              <a:t/>
            </a:r>
            <a:endParaRPr b="0" i="0" sz="1600" u="none" cap="none" strike="noStrike">
              <a:solidFill>
                <a:srgbClr val="001344"/>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Centrality analysis: </a:t>
            </a:r>
            <a:r>
              <a:rPr lang="en-US" sz="1600">
                <a:solidFill>
                  <a:srgbClr val="001344"/>
                </a:solidFill>
                <a:latin typeface="Calibri"/>
                <a:ea typeface="Calibri"/>
                <a:cs typeface="Calibri"/>
                <a:sym typeface="Calibri"/>
              </a:rPr>
              <a:t>In-degree PageRank</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Cross-sector comparisons</a:t>
            </a:r>
            <a:endParaRPr>
              <a:solidFill>
                <a:srgbClr val="001344"/>
              </a:solidFill>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Regulatory Mapping: GDPR-CCPA-HIPPA</a:t>
            </a:r>
            <a:endParaRPr b="0" i="0" sz="1600" u="none" cap="none" strike="noStrike">
              <a:solidFill>
                <a:srgbClr val="001344"/>
              </a:solidFill>
              <a:latin typeface="Calibri"/>
              <a:ea typeface="Calibri"/>
              <a:cs typeface="Calibri"/>
              <a:sym typeface="Calibri"/>
            </a:endParaRPr>
          </a:p>
          <a:p>
            <a:pPr indent="0" lvl="0" marL="0" marR="0" rtl="0" algn="ctr">
              <a:spcBef>
                <a:spcPts val="800"/>
              </a:spcBef>
              <a:spcAft>
                <a:spcPts val="0"/>
              </a:spcAft>
              <a:buNone/>
            </a:pPr>
            <a:r>
              <a:rPr b="0" i="0" lang="en-US" sz="1600" u="none" cap="none" strike="noStrike">
                <a:solidFill>
                  <a:srgbClr val="001344"/>
                </a:solidFill>
                <a:latin typeface="Calibri"/>
                <a:ea typeface="Calibri"/>
                <a:cs typeface="Calibri"/>
                <a:sym typeface="Calibri"/>
              </a:rPr>
              <a:t>Overlay Regulations on sector-level KGs</a:t>
            </a:r>
            <a:endParaRPr>
              <a:solidFill>
                <a:srgbClr val="001344"/>
              </a:solidFill>
            </a:endParaRPr>
          </a:p>
          <a:p>
            <a:pPr indent="0" lvl="0" marL="0" marR="0" rtl="0" algn="ctr">
              <a:spcBef>
                <a:spcPts val="800"/>
              </a:spcBef>
              <a:spcAft>
                <a:spcPts val="0"/>
              </a:spcAft>
              <a:buNone/>
            </a:pPr>
            <a:r>
              <a:t/>
            </a:r>
            <a:endParaRPr b="0" i="0" sz="1600" u="none" cap="none" strike="noStrike">
              <a:solidFill>
                <a:srgbClr val="212121"/>
              </a:solidFill>
              <a:latin typeface="Calibri"/>
              <a:ea typeface="Calibri"/>
              <a:cs typeface="Calibri"/>
              <a:sym typeface="Calibri"/>
            </a:endParaRPr>
          </a:p>
          <a:p>
            <a:pPr indent="0" lvl="0" marL="0" marR="0" rtl="0" algn="ctr">
              <a:spcBef>
                <a:spcPts val="800"/>
              </a:spcBef>
              <a:spcAft>
                <a:spcPts val="0"/>
              </a:spcAft>
              <a:buNone/>
            </a:pPr>
            <a:r>
              <a:t/>
            </a:r>
            <a:endParaRPr b="0" i="0" sz="1600" u="none" cap="none" strike="noStrike">
              <a:solidFill>
                <a:srgbClr val="1F497D"/>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da9f8ea407_0_10"/>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g3da9f8ea407_0_10"/>
          <p:cNvSpPr txBox="1"/>
          <p:nvPr/>
        </p:nvSpPr>
        <p:spPr>
          <a:xfrm>
            <a:off x="549446" y="1657475"/>
            <a:ext cx="3108600" cy="2555100"/>
          </a:xfrm>
          <a:prstGeom prst="rect">
            <a:avLst/>
          </a:prstGeom>
          <a:solidFill>
            <a:srgbClr val="00134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chemeClr val="lt1"/>
                </a:solidFill>
              </a:rPr>
              <a:t>Revised Research Questions (RQs)</a:t>
            </a:r>
            <a:endParaRPr b="0" i="0" sz="3600" u="none" cap="none" strike="noStrike">
              <a:solidFill>
                <a:schemeClr val="lt1"/>
              </a:solidFill>
              <a:latin typeface="Arial"/>
              <a:ea typeface="Arial"/>
              <a:cs typeface="Arial"/>
              <a:sym typeface="Arial"/>
            </a:endParaRPr>
          </a:p>
        </p:txBody>
      </p:sp>
      <p:sp>
        <p:nvSpPr>
          <p:cNvPr id="137" name="Google Shape;137;g3da9f8ea407_0_10"/>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38" name="Google Shape;138;g3da9f8ea407_0_10"/>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39" name="Google Shape;139;g3da9f8ea407_0_10"/>
          <p:cNvSpPr/>
          <p:nvPr/>
        </p:nvSpPr>
        <p:spPr>
          <a:xfrm>
            <a:off x="4848300" y="3788225"/>
            <a:ext cx="6631200" cy="2555100"/>
          </a:xfrm>
          <a:prstGeom prst="rect">
            <a:avLst/>
          </a:prstGeom>
          <a:solidFill>
            <a:srgbClr val="0013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US" sz="2400">
                <a:solidFill>
                  <a:schemeClr val="lt1"/>
                </a:solidFill>
              </a:rPr>
              <a:t>RQ2: </a:t>
            </a:r>
            <a:r>
              <a:rPr b="1" i="1" lang="en-US" sz="2400">
                <a:solidFill>
                  <a:schemeClr val="lt1"/>
                </a:solidFill>
              </a:rPr>
              <a:t>Within-Sector Structure</a:t>
            </a:r>
            <a:r>
              <a:rPr lang="en-US" sz="2400">
                <a:solidFill>
                  <a:schemeClr val="lt1"/>
                </a:solidFill>
              </a:rPr>
              <a:t> - What data types, third-party actors, and collection patterns are characteristic of each sector's privacy policies?</a:t>
            </a:r>
            <a:endParaRPr sz="2400">
              <a:solidFill>
                <a:schemeClr val="lt1"/>
              </a:solidFill>
            </a:endParaRPr>
          </a:p>
          <a:p>
            <a:pPr indent="0" lvl="0" marL="0" rtl="0" algn="ctr">
              <a:spcBef>
                <a:spcPts val="1200"/>
              </a:spcBef>
              <a:spcAft>
                <a:spcPts val="0"/>
              </a:spcAft>
              <a:buNone/>
            </a:pPr>
            <a:r>
              <a:t/>
            </a:r>
            <a:endParaRPr/>
          </a:p>
        </p:txBody>
      </p:sp>
      <p:sp>
        <p:nvSpPr>
          <p:cNvPr id="140" name="Google Shape;140;g3da9f8ea407_0_10"/>
          <p:cNvSpPr/>
          <p:nvPr/>
        </p:nvSpPr>
        <p:spPr>
          <a:xfrm>
            <a:off x="4848450" y="632650"/>
            <a:ext cx="6631200" cy="2943000"/>
          </a:xfrm>
          <a:prstGeom prst="rect">
            <a:avLst/>
          </a:prstGeom>
          <a:solidFill>
            <a:srgbClr val="00134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1" lang="en-US" sz="2400">
                <a:solidFill>
                  <a:schemeClr val="lt1"/>
                </a:solidFill>
              </a:rPr>
              <a:t>RQ1: </a:t>
            </a:r>
            <a:r>
              <a:rPr b="1" i="1" lang="en-US" sz="2400">
                <a:solidFill>
                  <a:schemeClr val="lt1"/>
                </a:solidFill>
              </a:rPr>
              <a:t>Cross-Sector Connections -</a:t>
            </a:r>
            <a:r>
              <a:rPr lang="en-US" sz="2400">
                <a:solidFill>
                  <a:schemeClr val="lt1"/>
                </a:solidFill>
              </a:rPr>
              <a:t>What privacy policy connections exist across IT, Healthcare, and Financial Services? Which data types and actors are shared, which are sector-specific, and how does regulatory compliance exposure compare?</a:t>
            </a:r>
            <a:endParaRPr>
              <a:solidFill>
                <a:schemeClr val="lt1"/>
              </a:solidFill>
              <a:highlight>
                <a:srgbClr val="9FC5E8"/>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a9f8ea407_0_33"/>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g3da9f8ea407_0_33"/>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344"/>
                </a:solidFill>
              </a:rPr>
              <a:t>Findings &amp; Observations</a:t>
            </a:r>
            <a:r>
              <a:rPr lang="en-US" sz="4000">
                <a:solidFill>
                  <a:srgbClr val="001344"/>
                </a:solidFill>
              </a:rPr>
              <a:t> </a:t>
            </a:r>
            <a:endParaRPr b="0" i="0" sz="4000" u="none" cap="none" strike="noStrike">
              <a:solidFill>
                <a:srgbClr val="001344"/>
              </a:solidFill>
              <a:latin typeface="Arial"/>
              <a:ea typeface="Arial"/>
              <a:cs typeface="Arial"/>
              <a:sym typeface="Arial"/>
            </a:endParaRPr>
          </a:p>
        </p:txBody>
      </p:sp>
      <p:sp>
        <p:nvSpPr>
          <p:cNvPr id="147" name="Google Shape;147;g3da9f8ea407_0_33"/>
          <p:cNvSpPr txBox="1"/>
          <p:nvPr/>
        </p:nvSpPr>
        <p:spPr>
          <a:xfrm>
            <a:off x="676200" y="2342275"/>
            <a:ext cx="10839600" cy="1169700"/>
          </a:xfrm>
          <a:prstGeom prst="rect">
            <a:avLst/>
          </a:prstGeom>
          <a:solidFill>
            <a:srgbClr val="001344"/>
          </a:solid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4800"/>
              <a:buFont typeface="Arial"/>
              <a:buNone/>
            </a:pPr>
            <a:r>
              <a:rPr b="1" lang="en-US" sz="3500">
                <a:solidFill>
                  <a:schemeClr val="lt1"/>
                </a:solidFill>
              </a:rPr>
              <a:t>RQ1: What privacy policy connections exist across IT, Healthcare, and Financial?</a:t>
            </a:r>
            <a:endParaRPr b="0" i="0" sz="1400" u="none" cap="none" strike="noStrike">
              <a:solidFill>
                <a:schemeClr val="lt1"/>
              </a:solidFill>
              <a:latin typeface="Arial"/>
              <a:ea typeface="Arial"/>
              <a:cs typeface="Arial"/>
              <a:sym typeface="Arial"/>
            </a:endParaRPr>
          </a:p>
        </p:txBody>
      </p:sp>
      <p:sp>
        <p:nvSpPr>
          <p:cNvPr id="148" name="Google Shape;148;g3da9f8ea407_0_33"/>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49" name="Google Shape;149;g3da9f8ea407_0_33"/>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g3dab3b0c0e2_0_578"/>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dab3b0c0e2_0_830"/>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g3dab3b0c0e2_0_830"/>
          <p:cNvSpPr txBox="1"/>
          <p:nvPr/>
        </p:nvSpPr>
        <p:spPr>
          <a:xfrm>
            <a:off x="265775" y="826600"/>
            <a:ext cx="11724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3500">
                <a:solidFill>
                  <a:srgbClr val="001344"/>
                </a:solidFill>
              </a:rPr>
              <a:t>RQ1a - Which data types are most shared?</a:t>
            </a:r>
            <a:endParaRPr b="0" i="0" sz="4000" u="none" cap="none" strike="noStrike">
              <a:solidFill>
                <a:srgbClr val="001344"/>
              </a:solidFill>
              <a:latin typeface="Arial"/>
              <a:ea typeface="Arial"/>
              <a:cs typeface="Arial"/>
              <a:sym typeface="Arial"/>
            </a:endParaRPr>
          </a:p>
        </p:txBody>
      </p:sp>
      <p:sp>
        <p:nvSpPr>
          <p:cNvPr id="162" name="Google Shape;162;g3dab3b0c0e2_0_830"/>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63" name="Google Shape;163;g3dab3b0c0e2_0_830"/>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64" name="Google Shape;164;g3dab3b0c0e2_0_830"/>
          <p:cNvGraphicFramePr/>
          <p:nvPr/>
        </p:nvGraphicFramePr>
        <p:xfrm>
          <a:off x="749475" y="2067175"/>
          <a:ext cx="3000000" cy="3000000"/>
        </p:xfrm>
        <a:graphic>
          <a:graphicData uri="http://schemas.openxmlformats.org/drawingml/2006/table">
            <a:tbl>
              <a:tblPr>
                <a:noFill/>
                <a:tableStyleId>{57EA327A-96FC-4A75-9489-5FF36F40FD03}</a:tableStyleId>
              </a:tblPr>
              <a:tblGrid>
                <a:gridCol w="2571750"/>
                <a:gridCol w="2571750"/>
                <a:gridCol w="2571750"/>
                <a:gridCol w="2571750"/>
              </a:tblGrid>
              <a:tr h="381000">
                <a:tc>
                  <a:txBody>
                    <a:bodyPr/>
                    <a:lstStyle/>
                    <a:p>
                      <a:pPr indent="0" lvl="0" marL="0" rtl="0" algn="ctr">
                        <a:spcBef>
                          <a:spcPts val="0"/>
                        </a:spcBef>
                        <a:spcAft>
                          <a:spcPts val="0"/>
                        </a:spcAft>
                        <a:buNone/>
                      </a:pPr>
                      <a:r>
                        <a:rPr b="1" lang="en-US" sz="2300">
                          <a:solidFill>
                            <a:schemeClr val="lt1"/>
                          </a:solidFill>
                        </a:rPr>
                        <a:t>Data Type </a:t>
                      </a:r>
                      <a:endParaRPr b="1" sz="2300">
                        <a:solidFill>
                          <a:schemeClr val="lt1"/>
                        </a:solidFill>
                      </a:endParaRPr>
                    </a:p>
                  </a:txBody>
                  <a:tcPr marT="91425" marB="91425" marR="91425" marL="91425">
                    <a:solidFill>
                      <a:srgbClr val="001243"/>
                    </a:solidFill>
                  </a:tcPr>
                </a:tc>
                <a:tc>
                  <a:txBody>
                    <a:bodyPr/>
                    <a:lstStyle/>
                    <a:p>
                      <a:pPr indent="0" lvl="0" marL="0" rtl="0" algn="ctr">
                        <a:spcBef>
                          <a:spcPts val="0"/>
                        </a:spcBef>
                        <a:spcAft>
                          <a:spcPts val="0"/>
                        </a:spcAft>
                        <a:buNone/>
                      </a:pPr>
                      <a:r>
                        <a:rPr b="1" lang="en-US" sz="2300">
                          <a:solidFill>
                            <a:schemeClr val="lt1"/>
                          </a:solidFill>
                        </a:rPr>
                        <a:t>Healthcare </a:t>
                      </a:r>
                      <a:endParaRPr b="1" sz="2300">
                        <a:solidFill>
                          <a:schemeClr val="lt1"/>
                        </a:solidFill>
                      </a:endParaRPr>
                    </a:p>
                  </a:txBody>
                  <a:tcPr marT="91425" marB="91425" marR="91425" marL="91425">
                    <a:solidFill>
                      <a:srgbClr val="001243"/>
                    </a:solidFill>
                  </a:tcPr>
                </a:tc>
                <a:tc>
                  <a:txBody>
                    <a:bodyPr/>
                    <a:lstStyle/>
                    <a:p>
                      <a:pPr indent="0" lvl="0" marL="0" rtl="0" algn="ctr">
                        <a:spcBef>
                          <a:spcPts val="0"/>
                        </a:spcBef>
                        <a:spcAft>
                          <a:spcPts val="0"/>
                        </a:spcAft>
                        <a:buNone/>
                      </a:pPr>
                      <a:r>
                        <a:rPr b="1" lang="en-US" sz="2300">
                          <a:solidFill>
                            <a:schemeClr val="lt1"/>
                          </a:solidFill>
                        </a:rPr>
                        <a:t>IT </a:t>
                      </a:r>
                      <a:endParaRPr b="1" sz="2300">
                        <a:solidFill>
                          <a:schemeClr val="lt1"/>
                        </a:solidFill>
                      </a:endParaRPr>
                    </a:p>
                  </a:txBody>
                  <a:tcPr marT="91425" marB="91425" marR="91425" marL="91425">
                    <a:solidFill>
                      <a:srgbClr val="001243"/>
                    </a:solidFill>
                  </a:tcPr>
                </a:tc>
                <a:tc>
                  <a:txBody>
                    <a:bodyPr/>
                    <a:lstStyle/>
                    <a:p>
                      <a:pPr indent="0" lvl="0" marL="0" rtl="0" algn="ctr">
                        <a:spcBef>
                          <a:spcPts val="0"/>
                        </a:spcBef>
                        <a:spcAft>
                          <a:spcPts val="0"/>
                        </a:spcAft>
                        <a:buNone/>
                      </a:pPr>
                      <a:r>
                        <a:rPr b="1" lang="en-US" sz="2300">
                          <a:solidFill>
                            <a:schemeClr val="lt1"/>
                          </a:solidFill>
                        </a:rPr>
                        <a:t>Financial </a:t>
                      </a:r>
                      <a:endParaRPr b="1" sz="2300">
                        <a:solidFill>
                          <a:schemeClr val="lt1"/>
                        </a:solidFill>
                      </a:endParaRPr>
                    </a:p>
                  </a:txBody>
                  <a:tcPr marT="91425" marB="91425" marR="91425" marL="91425">
                    <a:solidFill>
                      <a:srgbClr val="001243"/>
                    </a:solidFill>
                  </a:tcPr>
                </a:tc>
              </a:tr>
              <a:tr h="381000">
                <a:tc>
                  <a:txBody>
                    <a:bodyPr/>
                    <a:lstStyle/>
                    <a:p>
                      <a:pPr indent="0" lvl="0" marL="0" rtl="0" algn="ctr">
                        <a:spcBef>
                          <a:spcPts val="0"/>
                        </a:spcBef>
                        <a:spcAft>
                          <a:spcPts val="0"/>
                        </a:spcAft>
                        <a:buNone/>
                      </a:pPr>
                      <a:r>
                        <a:rPr lang="en-US" sz="2000"/>
                        <a:t>Cookie/pixel tag </a:t>
                      </a:r>
                      <a:endParaRPr sz="2000"/>
                    </a:p>
                  </a:txBody>
                  <a:tcPr marT="91425" marB="91425" marR="91425" marL="91425"/>
                </a:tc>
                <a:tc>
                  <a:txBody>
                    <a:bodyPr/>
                    <a:lstStyle/>
                    <a:p>
                      <a:pPr indent="0" lvl="0" marL="0" rtl="0" algn="ctr">
                        <a:spcBef>
                          <a:spcPts val="0"/>
                        </a:spcBef>
                        <a:spcAft>
                          <a:spcPts val="0"/>
                        </a:spcAft>
                        <a:buNone/>
                      </a:pPr>
                      <a:r>
                        <a:rPr lang="en-US" sz="2000"/>
                        <a:t>52% </a:t>
                      </a:r>
                      <a:endParaRPr sz="2000"/>
                    </a:p>
                  </a:txBody>
                  <a:tcPr marT="91425" marB="91425" marR="91425" marL="91425"/>
                </a:tc>
                <a:tc>
                  <a:txBody>
                    <a:bodyPr/>
                    <a:lstStyle/>
                    <a:p>
                      <a:pPr indent="0" lvl="0" marL="0" rtl="0" algn="ctr">
                        <a:spcBef>
                          <a:spcPts val="0"/>
                        </a:spcBef>
                        <a:spcAft>
                          <a:spcPts val="0"/>
                        </a:spcAft>
                        <a:buNone/>
                      </a:pPr>
                      <a:r>
                        <a:rPr lang="en-US" sz="2000"/>
                        <a:t>65% </a:t>
                      </a:r>
                      <a:endParaRPr sz="2000"/>
                    </a:p>
                  </a:txBody>
                  <a:tcPr marT="91425" marB="91425" marR="91425" marL="91425"/>
                </a:tc>
                <a:tc>
                  <a:txBody>
                    <a:bodyPr/>
                    <a:lstStyle/>
                    <a:p>
                      <a:pPr indent="0" lvl="0" marL="0" rtl="0" algn="ctr">
                        <a:spcBef>
                          <a:spcPts val="0"/>
                        </a:spcBef>
                        <a:spcAft>
                          <a:spcPts val="0"/>
                        </a:spcAft>
                        <a:buNone/>
                      </a:pPr>
                      <a:r>
                        <a:rPr lang="en-US" sz="2000"/>
                        <a:t>58% </a:t>
                      </a:r>
                      <a:endParaRPr sz="2000"/>
                    </a:p>
                  </a:txBody>
                  <a:tcPr marT="91425" marB="91425" marR="91425" marL="91425"/>
                </a:tc>
              </a:tr>
              <a:tr h="381000">
                <a:tc>
                  <a:txBody>
                    <a:bodyPr/>
                    <a:lstStyle/>
                    <a:p>
                      <a:pPr indent="0" lvl="0" marL="0" rtl="0" algn="ctr">
                        <a:spcBef>
                          <a:spcPts val="0"/>
                        </a:spcBef>
                        <a:spcAft>
                          <a:spcPts val="0"/>
                        </a:spcAft>
                        <a:buNone/>
                      </a:pPr>
                      <a:r>
                        <a:rPr lang="en-US" sz="2000"/>
                        <a:t>Person name </a:t>
                      </a:r>
                      <a:endParaRPr sz="2000"/>
                    </a:p>
                  </a:txBody>
                  <a:tcPr marT="91425" marB="91425" marR="91425" marL="91425"/>
                </a:tc>
                <a:tc>
                  <a:txBody>
                    <a:bodyPr/>
                    <a:lstStyle/>
                    <a:p>
                      <a:pPr indent="0" lvl="0" marL="0" rtl="0" algn="ctr">
                        <a:spcBef>
                          <a:spcPts val="0"/>
                        </a:spcBef>
                        <a:spcAft>
                          <a:spcPts val="0"/>
                        </a:spcAft>
                        <a:buNone/>
                      </a:pPr>
                      <a:r>
                        <a:rPr lang="en-US" sz="2000"/>
                        <a:t>59% </a:t>
                      </a:r>
                      <a:endParaRPr sz="2000"/>
                    </a:p>
                  </a:txBody>
                  <a:tcPr marT="91425" marB="91425" marR="91425" marL="91425"/>
                </a:tc>
                <a:tc>
                  <a:txBody>
                    <a:bodyPr/>
                    <a:lstStyle/>
                    <a:p>
                      <a:pPr indent="0" lvl="0" marL="0" rtl="0" algn="ctr">
                        <a:spcBef>
                          <a:spcPts val="0"/>
                        </a:spcBef>
                        <a:spcAft>
                          <a:spcPts val="0"/>
                        </a:spcAft>
                        <a:buNone/>
                      </a:pPr>
                      <a:r>
                        <a:rPr lang="en-US" sz="2000"/>
                        <a:t>58% </a:t>
                      </a:r>
                      <a:endParaRPr sz="2000"/>
                    </a:p>
                  </a:txBody>
                  <a:tcPr marT="91425" marB="91425" marR="91425" marL="91425"/>
                </a:tc>
                <a:tc>
                  <a:txBody>
                    <a:bodyPr/>
                    <a:lstStyle/>
                    <a:p>
                      <a:pPr indent="0" lvl="0" marL="0" rtl="0" algn="ctr">
                        <a:spcBef>
                          <a:spcPts val="0"/>
                        </a:spcBef>
                        <a:spcAft>
                          <a:spcPts val="0"/>
                        </a:spcAft>
                        <a:buNone/>
                      </a:pPr>
                      <a:r>
                        <a:rPr lang="en-US" sz="2000"/>
                        <a:t>48% </a:t>
                      </a:r>
                      <a:endParaRPr sz="2000"/>
                    </a:p>
                  </a:txBody>
                  <a:tcPr marT="91425" marB="91425" marR="91425" marL="91425"/>
                </a:tc>
              </a:tr>
              <a:tr h="381000">
                <a:tc>
                  <a:txBody>
                    <a:bodyPr/>
                    <a:lstStyle/>
                    <a:p>
                      <a:pPr indent="0" lvl="0" marL="0" rtl="0" algn="ctr">
                        <a:spcBef>
                          <a:spcPts val="0"/>
                        </a:spcBef>
                        <a:spcAft>
                          <a:spcPts val="0"/>
                        </a:spcAft>
                        <a:buNone/>
                      </a:pPr>
                      <a:r>
                        <a:rPr lang="en-US" sz="2000"/>
                        <a:t>Email address </a:t>
                      </a:r>
                      <a:endParaRPr sz="2000"/>
                    </a:p>
                  </a:txBody>
                  <a:tcPr marT="91425" marB="91425" marR="91425" marL="91425"/>
                </a:tc>
                <a:tc>
                  <a:txBody>
                    <a:bodyPr/>
                    <a:lstStyle/>
                    <a:p>
                      <a:pPr indent="0" lvl="0" marL="0" rtl="0" algn="ctr">
                        <a:spcBef>
                          <a:spcPts val="0"/>
                        </a:spcBef>
                        <a:spcAft>
                          <a:spcPts val="0"/>
                        </a:spcAft>
                        <a:buNone/>
                      </a:pPr>
                      <a:r>
                        <a:rPr lang="en-US" sz="2000"/>
                        <a:t>54% </a:t>
                      </a:r>
                      <a:endParaRPr sz="2000"/>
                    </a:p>
                  </a:txBody>
                  <a:tcPr marT="91425" marB="91425" marR="91425" marL="91425"/>
                </a:tc>
                <a:tc>
                  <a:txBody>
                    <a:bodyPr/>
                    <a:lstStyle/>
                    <a:p>
                      <a:pPr indent="0" lvl="0" marL="0" rtl="0" algn="ctr">
                        <a:spcBef>
                          <a:spcPts val="0"/>
                        </a:spcBef>
                        <a:spcAft>
                          <a:spcPts val="0"/>
                        </a:spcAft>
                        <a:buNone/>
                      </a:pPr>
                      <a:r>
                        <a:rPr lang="en-US" sz="2000"/>
                        <a:t>53% </a:t>
                      </a:r>
                      <a:endParaRPr sz="2000"/>
                    </a:p>
                  </a:txBody>
                  <a:tcPr marT="91425" marB="91425" marR="91425" marL="91425"/>
                </a:tc>
                <a:tc>
                  <a:txBody>
                    <a:bodyPr/>
                    <a:lstStyle/>
                    <a:p>
                      <a:pPr indent="0" lvl="0" marL="0" rtl="0" algn="ctr">
                        <a:spcBef>
                          <a:spcPts val="0"/>
                        </a:spcBef>
                        <a:spcAft>
                          <a:spcPts val="0"/>
                        </a:spcAft>
                        <a:buNone/>
                      </a:pPr>
                      <a:r>
                        <a:rPr lang="en-US" sz="2000"/>
                        <a:t>53% </a:t>
                      </a:r>
                      <a:endParaRPr sz="2000"/>
                    </a:p>
                  </a:txBody>
                  <a:tcPr marT="91425" marB="91425" marR="91425" marL="91425"/>
                </a:tc>
              </a:tr>
              <a:tr h="381000">
                <a:tc>
                  <a:txBody>
                    <a:bodyPr/>
                    <a:lstStyle/>
                    <a:p>
                      <a:pPr indent="0" lvl="0" marL="0" rtl="0" algn="ctr">
                        <a:spcBef>
                          <a:spcPts val="0"/>
                        </a:spcBef>
                        <a:spcAft>
                          <a:spcPts val="0"/>
                        </a:spcAft>
                        <a:buNone/>
                      </a:pPr>
                      <a:r>
                        <a:rPr lang="en-US" sz="2000"/>
                        <a:t>IP address </a:t>
                      </a:r>
                      <a:endParaRPr sz="2000"/>
                    </a:p>
                  </a:txBody>
                  <a:tcPr marT="91425" marB="91425" marR="91425" marL="91425"/>
                </a:tc>
                <a:tc>
                  <a:txBody>
                    <a:bodyPr/>
                    <a:lstStyle/>
                    <a:p>
                      <a:pPr indent="0" lvl="0" marL="0" rtl="0" algn="ctr">
                        <a:spcBef>
                          <a:spcPts val="0"/>
                        </a:spcBef>
                        <a:spcAft>
                          <a:spcPts val="0"/>
                        </a:spcAft>
                        <a:buNone/>
                      </a:pPr>
                      <a:r>
                        <a:rPr lang="en-US" sz="2000"/>
                        <a:t>46% </a:t>
                      </a:r>
                      <a:endParaRPr sz="2000"/>
                    </a:p>
                  </a:txBody>
                  <a:tcPr marT="91425" marB="91425" marR="91425" marL="91425"/>
                </a:tc>
                <a:tc>
                  <a:txBody>
                    <a:bodyPr/>
                    <a:lstStyle/>
                    <a:p>
                      <a:pPr indent="0" lvl="0" marL="0" rtl="0" algn="ctr">
                        <a:spcBef>
                          <a:spcPts val="0"/>
                        </a:spcBef>
                        <a:spcAft>
                          <a:spcPts val="0"/>
                        </a:spcAft>
                        <a:buNone/>
                      </a:pPr>
                      <a:r>
                        <a:rPr lang="en-US" sz="2000"/>
                        <a:t>52% </a:t>
                      </a:r>
                      <a:endParaRPr sz="2000"/>
                    </a:p>
                  </a:txBody>
                  <a:tcPr marT="91425" marB="91425" marR="91425" marL="91425"/>
                </a:tc>
                <a:tc>
                  <a:txBody>
                    <a:bodyPr/>
                    <a:lstStyle/>
                    <a:p>
                      <a:pPr indent="0" lvl="0" marL="0" rtl="0" algn="ctr">
                        <a:spcBef>
                          <a:spcPts val="0"/>
                        </a:spcBef>
                        <a:spcAft>
                          <a:spcPts val="0"/>
                        </a:spcAft>
                        <a:buNone/>
                      </a:pPr>
                      <a:r>
                        <a:rPr lang="en-US" sz="2000"/>
                        <a:t>39% </a:t>
                      </a:r>
                      <a:endParaRPr sz="2000"/>
                    </a:p>
                  </a:txBody>
                  <a:tcPr marT="91425" marB="91425" marR="91425" marL="91425"/>
                </a:tc>
              </a:tr>
              <a:tr h="381000">
                <a:tc>
                  <a:txBody>
                    <a:bodyPr/>
                    <a:lstStyle/>
                    <a:p>
                      <a:pPr indent="0" lvl="0" marL="0" rtl="0" algn="ctr">
                        <a:spcBef>
                          <a:spcPts val="0"/>
                        </a:spcBef>
                        <a:spcAft>
                          <a:spcPts val="0"/>
                        </a:spcAft>
                        <a:buNone/>
                      </a:pPr>
                      <a:r>
                        <a:rPr lang="en-US" sz="2000"/>
                        <a:t>Phone number </a:t>
                      </a:r>
                      <a:endParaRPr sz="2000"/>
                    </a:p>
                  </a:txBody>
                  <a:tcPr marT="91425" marB="91425" marR="91425" marL="91425"/>
                </a:tc>
                <a:tc>
                  <a:txBody>
                    <a:bodyPr/>
                    <a:lstStyle/>
                    <a:p>
                      <a:pPr indent="0" lvl="0" marL="0" rtl="0" algn="ctr">
                        <a:spcBef>
                          <a:spcPts val="0"/>
                        </a:spcBef>
                        <a:spcAft>
                          <a:spcPts val="0"/>
                        </a:spcAft>
                        <a:buNone/>
                      </a:pPr>
                      <a:r>
                        <a:rPr lang="en-US" sz="2000"/>
                        <a:t>43% </a:t>
                      </a:r>
                      <a:endParaRPr sz="2000"/>
                    </a:p>
                  </a:txBody>
                  <a:tcPr marT="91425" marB="91425" marR="91425" marL="91425"/>
                </a:tc>
                <a:tc>
                  <a:txBody>
                    <a:bodyPr/>
                    <a:lstStyle/>
                    <a:p>
                      <a:pPr indent="0" lvl="0" marL="0" rtl="0" algn="ctr">
                        <a:spcBef>
                          <a:spcPts val="0"/>
                        </a:spcBef>
                        <a:spcAft>
                          <a:spcPts val="0"/>
                        </a:spcAft>
                        <a:buNone/>
                      </a:pPr>
                      <a:r>
                        <a:rPr lang="en-US" sz="2000"/>
                        <a:t>45% </a:t>
                      </a:r>
                      <a:endParaRPr sz="2000"/>
                    </a:p>
                  </a:txBody>
                  <a:tcPr marT="91425" marB="91425" marR="91425" marL="91425"/>
                </a:tc>
                <a:tc>
                  <a:txBody>
                    <a:bodyPr/>
                    <a:lstStyle/>
                    <a:p>
                      <a:pPr indent="0" lvl="0" marL="0" rtl="0" algn="ctr">
                        <a:spcBef>
                          <a:spcPts val="0"/>
                        </a:spcBef>
                        <a:spcAft>
                          <a:spcPts val="0"/>
                        </a:spcAft>
                        <a:buNone/>
                      </a:pPr>
                      <a:r>
                        <a:rPr lang="en-US" sz="2000"/>
                        <a:t>40% </a:t>
                      </a:r>
                      <a:endParaRPr sz="20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dab3b0c0e2_0_798"/>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g3dab3b0c0e2_0_798"/>
          <p:cNvSpPr txBox="1"/>
          <p:nvPr/>
        </p:nvSpPr>
        <p:spPr>
          <a:xfrm>
            <a:off x="265775" y="826600"/>
            <a:ext cx="11724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3500">
                <a:solidFill>
                  <a:srgbClr val="202122"/>
                </a:solidFill>
              </a:rPr>
              <a:t>RQ1b - Which data types are sector</a:t>
            </a:r>
            <a:r>
              <a:rPr b="1" lang="en-US" sz="3500">
                <a:solidFill>
                  <a:srgbClr val="202122"/>
                </a:solidFill>
              </a:rPr>
              <a:t>-specific?</a:t>
            </a:r>
            <a:endParaRPr b="0" i="0" sz="4000" u="none" cap="none" strike="noStrike">
              <a:solidFill>
                <a:srgbClr val="000000"/>
              </a:solidFill>
              <a:latin typeface="Arial"/>
              <a:ea typeface="Arial"/>
              <a:cs typeface="Arial"/>
              <a:sym typeface="Arial"/>
            </a:endParaRPr>
          </a:p>
        </p:txBody>
      </p:sp>
      <p:sp>
        <p:nvSpPr>
          <p:cNvPr id="171" name="Google Shape;171;g3dab3b0c0e2_0_798"/>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72" name="Google Shape;172;g3dab3b0c0e2_0_798"/>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73" name="Google Shape;173;g3dab3b0c0e2_0_798"/>
          <p:cNvGraphicFramePr/>
          <p:nvPr/>
        </p:nvGraphicFramePr>
        <p:xfrm>
          <a:off x="396325" y="1558275"/>
          <a:ext cx="3000000" cy="3000000"/>
        </p:xfrm>
        <a:graphic>
          <a:graphicData uri="http://schemas.openxmlformats.org/drawingml/2006/table">
            <a:tbl>
              <a:tblPr>
                <a:noFill/>
                <a:tableStyleId>{57EA327A-96FC-4A75-9489-5FF36F40FD03}</a:tableStyleId>
              </a:tblPr>
              <a:tblGrid>
                <a:gridCol w="3724200"/>
                <a:gridCol w="3724200"/>
                <a:gridCol w="3724200"/>
              </a:tblGrid>
              <a:tr h="519250">
                <a:tc>
                  <a:txBody>
                    <a:bodyPr/>
                    <a:lstStyle/>
                    <a:p>
                      <a:pPr indent="0" lvl="0" marL="0" rtl="0" algn="ctr">
                        <a:spcBef>
                          <a:spcPts val="0"/>
                        </a:spcBef>
                        <a:spcAft>
                          <a:spcPts val="0"/>
                        </a:spcAft>
                        <a:buNone/>
                      </a:pPr>
                      <a:r>
                        <a:rPr b="1" lang="en-US" sz="2300">
                          <a:solidFill>
                            <a:schemeClr val="lt1"/>
                          </a:solidFill>
                        </a:rPr>
                        <a:t>Data Type </a:t>
                      </a:r>
                      <a:endParaRPr b="1" sz="2300">
                        <a:solidFill>
                          <a:schemeClr val="lt1"/>
                        </a:solidFill>
                      </a:endParaRPr>
                    </a:p>
                  </a:txBody>
                  <a:tcPr marT="91425" marB="91425" marR="91425" marL="91425">
                    <a:solidFill>
                      <a:srgbClr val="001344"/>
                    </a:solidFill>
                  </a:tcPr>
                </a:tc>
                <a:tc>
                  <a:txBody>
                    <a:bodyPr/>
                    <a:lstStyle/>
                    <a:p>
                      <a:pPr indent="0" lvl="0" marL="0" rtl="0" algn="ctr">
                        <a:spcBef>
                          <a:spcPts val="0"/>
                        </a:spcBef>
                        <a:spcAft>
                          <a:spcPts val="0"/>
                        </a:spcAft>
                        <a:buNone/>
                      </a:pPr>
                      <a:r>
                        <a:rPr b="1" lang="en-US" sz="2300">
                          <a:solidFill>
                            <a:schemeClr val="lt1"/>
                          </a:solidFill>
                        </a:rPr>
                        <a:t>Sector</a:t>
                      </a:r>
                      <a:endParaRPr b="1" sz="2300">
                        <a:solidFill>
                          <a:schemeClr val="lt1"/>
                        </a:solidFill>
                      </a:endParaRPr>
                    </a:p>
                  </a:txBody>
                  <a:tcPr marT="91425" marB="91425" marR="91425" marL="91425">
                    <a:solidFill>
                      <a:srgbClr val="001344"/>
                    </a:solidFill>
                  </a:tcPr>
                </a:tc>
                <a:tc>
                  <a:txBody>
                    <a:bodyPr/>
                    <a:lstStyle/>
                    <a:p>
                      <a:pPr indent="0" lvl="0" marL="0" rtl="0" algn="ctr">
                        <a:spcBef>
                          <a:spcPts val="0"/>
                        </a:spcBef>
                        <a:spcAft>
                          <a:spcPts val="0"/>
                        </a:spcAft>
                        <a:buNone/>
                      </a:pPr>
                      <a:r>
                        <a:rPr b="1" lang="en-US" sz="2300">
                          <a:solidFill>
                            <a:schemeClr val="lt1"/>
                          </a:solidFill>
                        </a:rPr>
                        <a:t>Why it is Distinctive</a:t>
                      </a:r>
                      <a:endParaRPr b="1" sz="2300">
                        <a:solidFill>
                          <a:schemeClr val="lt1"/>
                        </a:solidFill>
                      </a:endParaRPr>
                    </a:p>
                  </a:txBody>
                  <a:tcPr marT="91425" marB="91425" marR="91425" marL="91425">
                    <a:solidFill>
                      <a:srgbClr val="001344"/>
                    </a:solidFill>
                  </a:tcPr>
                </a:tc>
              </a:tr>
              <a:tr h="771500">
                <a:tc>
                  <a:txBody>
                    <a:bodyPr/>
                    <a:lstStyle/>
                    <a:p>
                      <a:pPr indent="0" lvl="0" marL="0" rtl="0" algn="ctr">
                        <a:spcBef>
                          <a:spcPts val="0"/>
                        </a:spcBef>
                        <a:spcAft>
                          <a:spcPts val="0"/>
                        </a:spcAft>
                        <a:buNone/>
                      </a:pPr>
                      <a:r>
                        <a:rPr lang="en-US" sz="2000"/>
                        <a:t>SSN </a:t>
                      </a:r>
                      <a:r>
                        <a:rPr lang="en-US" sz="2000"/>
                        <a:t> </a:t>
                      </a:r>
                      <a:endParaRPr sz="2000"/>
                    </a:p>
                  </a:txBody>
                  <a:tcPr marT="91425" marB="91425" marR="91425" marL="91425"/>
                </a:tc>
                <a:tc>
                  <a:txBody>
                    <a:bodyPr/>
                    <a:lstStyle/>
                    <a:p>
                      <a:pPr indent="0" lvl="0" marL="0" rtl="0" algn="ctr">
                        <a:spcBef>
                          <a:spcPts val="0"/>
                        </a:spcBef>
                        <a:spcAft>
                          <a:spcPts val="0"/>
                        </a:spcAft>
                        <a:buNone/>
                      </a:pPr>
                      <a:r>
                        <a:rPr lang="en-US" sz="2000"/>
                        <a:t>Financial only at 34% </a:t>
                      </a:r>
                      <a:endParaRPr sz="2000"/>
                    </a:p>
                  </a:txBody>
                  <a:tcPr marT="91425" marB="91425" marR="91425" marL="91425"/>
                </a:tc>
                <a:tc>
                  <a:txBody>
                    <a:bodyPr/>
                    <a:lstStyle/>
                    <a:p>
                      <a:pPr indent="0" lvl="0" marL="0" rtl="0" algn="ctr">
                        <a:spcBef>
                          <a:spcPts val="0"/>
                        </a:spcBef>
                        <a:spcAft>
                          <a:spcPts val="0"/>
                        </a:spcAft>
                        <a:buNone/>
                      </a:pPr>
                      <a:r>
                        <a:rPr lang="en-US" sz="2000"/>
                        <a:t>Identity verification, GLBA requirement </a:t>
                      </a:r>
                      <a:r>
                        <a:rPr lang="en-US" sz="2000"/>
                        <a:t> </a:t>
                      </a:r>
                      <a:endParaRPr sz="2000"/>
                    </a:p>
                  </a:txBody>
                  <a:tcPr marT="91425" marB="91425" marR="91425" marL="91425"/>
                </a:tc>
              </a:tr>
              <a:tr h="474775">
                <a:tc>
                  <a:txBody>
                    <a:bodyPr/>
                    <a:lstStyle/>
                    <a:p>
                      <a:pPr indent="0" lvl="0" marL="0" rtl="0" algn="ctr">
                        <a:spcBef>
                          <a:spcPts val="0"/>
                        </a:spcBef>
                        <a:spcAft>
                          <a:spcPts val="0"/>
                        </a:spcAft>
                        <a:buNone/>
                      </a:pPr>
                      <a:r>
                        <a:rPr lang="en-US" sz="2000"/>
                        <a:t>Biometric info </a:t>
                      </a:r>
                      <a:endParaRPr sz="2000"/>
                    </a:p>
                  </a:txBody>
                  <a:tcPr marT="91425" marB="91425" marR="91425" marL="91425"/>
                </a:tc>
                <a:tc>
                  <a:txBody>
                    <a:bodyPr/>
                    <a:lstStyle/>
                    <a:p>
                      <a:pPr indent="0" lvl="0" marL="0" rtl="0" algn="ctr">
                        <a:spcBef>
                          <a:spcPts val="0"/>
                        </a:spcBef>
                        <a:spcAft>
                          <a:spcPts val="0"/>
                        </a:spcAft>
                        <a:buNone/>
                      </a:pPr>
                      <a:r>
                        <a:rPr lang="en-US" sz="2000"/>
                        <a:t>Financial highest at 21% </a:t>
                      </a:r>
                      <a:endParaRPr sz="2000"/>
                    </a:p>
                  </a:txBody>
                  <a:tcPr marT="91425" marB="91425" marR="91425" marL="91425"/>
                </a:tc>
                <a:tc>
                  <a:txBody>
                    <a:bodyPr/>
                    <a:lstStyle/>
                    <a:p>
                      <a:pPr indent="0" lvl="0" marL="0" rtl="0" algn="ctr">
                        <a:spcBef>
                          <a:spcPts val="0"/>
                        </a:spcBef>
                        <a:spcAft>
                          <a:spcPts val="0"/>
                        </a:spcAft>
                        <a:buNone/>
                      </a:pPr>
                      <a:r>
                        <a:rPr lang="en-US" sz="2000"/>
                        <a:t>Banking authentication apps</a:t>
                      </a:r>
                      <a:endParaRPr sz="2000"/>
                    </a:p>
                  </a:txBody>
                  <a:tcPr marT="91425" marB="91425" marR="91425" marL="91425"/>
                </a:tc>
              </a:tr>
              <a:tr h="474775">
                <a:tc>
                  <a:txBody>
                    <a:bodyPr/>
                    <a:lstStyle/>
                    <a:p>
                      <a:pPr indent="0" lvl="0" marL="0" rtl="0" algn="ctr">
                        <a:spcBef>
                          <a:spcPts val="0"/>
                        </a:spcBef>
                        <a:spcAft>
                          <a:spcPts val="0"/>
                        </a:spcAft>
                        <a:buNone/>
                      </a:pPr>
                      <a:r>
                        <a:rPr lang="en-US" sz="2000"/>
                        <a:t>Date of Birth</a:t>
                      </a:r>
                      <a:endParaRPr sz="2000"/>
                    </a:p>
                  </a:txBody>
                  <a:tcPr marT="91425" marB="91425" marR="91425" marL="91425"/>
                </a:tc>
                <a:tc>
                  <a:txBody>
                    <a:bodyPr/>
                    <a:lstStyle/>
                    <a:p>
                      <a:pPr indent="0" lvl="0" marL="0" rtl="0" algn="ctr">
                        <a:spcBef>
                          <a:spcPts val="0"/>
                        </a:spcBef>
                        <a:spcAft>
                          <a:spcPts val="0"/>
                        </a:spcAft>
                        <a:buNone/>
                      </a:pPr>
                      <a:r>
                        <a:rPr lang="en-US" sz="2000"/>
                        <a:t>Financial at 26%</a:t>
                      </a:r>
                      <a:endParaRPr sz="2000"/>
                    </a:p>
                  </a:txBody>
                  <a:tcPr marT="91425" marB="91425" marR="91425" marL="91425"/>
                </a:tc>
                <a:tc>
                  <a:txBody>
                    <a:bodyPr/>
                    <a:lstStyle/>
                    <a:p>
                      <a:pPr indent="0" lvl="0" marL="0" rtl="0" algn="ctr">
                        <a:spcBef>
                          <a:spcPts val="0"/>
                        </a:spcBef>
                        <a:spcAft>
                          <a:spcPts val="0"/>
                        </a:spcAft>
                        <a:buNone/>
                      </a:pPr>
                      <a:r>
                        <a:rPr lang="en-US" sz="2000"/>
                        <a:t>Age verification, </a:t>
                      </a:r>
                      <a:endParaRPr sz="2000"/>
                    </a:p>
                  </a:txBody>
                  <a:tcPr marT="91425" marB="91425" marR="91425" marL="91425"/>
                </a:tc>
              </a:tr>
              <a:tr h="474775">
                <a:tc>
                  <a:txBody>
                    <a:bodyPr/>
                    <a:lstStyle/>
                    <a:p>
                      <a:pPr indent="0" lvl="0" marL="0" rtl="0" algn="ctr">
                        <a:spcBef>
                          <a:spcPts val="0"/>
                        </a:spcBef>
                        <a:spcAft>
                          <a:spcPts val="0"/>
                        </a:spcAft>
                        <a:buNone/>
                      </a:pPr>
                      <a:r>
                        <a:rPr lang="en-US" sz="2000"/>
                        <a:t>Browsing/Search History</a:t>
                      </a:r>
                      <a:endParaRPr sz="2000"/>
                    </a:p>
                  </a:txBody>
                  <a:tcPr marT="91425" marB="91425" marR="91425" marL="91425"/>
                </a:tc>
                <a:tc>
                  <a:txBody>
                    <a:bodyPr/>
                    <a:lstStyle/>
                    <a:p>
                      <a:pPr indent="0" lvl="0" marL="0" rtl="0" algn="ctr">
                        <a:spcBef>
                          <a:spcPts val="0"/>
                        </a:spcBef>
                        <a:spcAft>
                          <a:spcPts val="0"/>
                        </a:spcAft>
                        <a:buNone/>
                      </a:pPr>
                      <a:r>
                        <a:rPr lang="en-US" sz="2000"/>
                        <a:t>Financial at 27%</a:t>
                      </a:r>
                      <a:endParaRPr sz="2000"/>
                    </a:p>
                  </a:txBody>
                  <a:tcPr marT="91425" marB="91425" marR="91425" marL="91425"/>
                </a:tc>
                <a:tc>
                  <a:txBody>
                    <a:bodyPr/>
                    <a:lstStyle/>
                    <a:p>
                      <a:pPr indent="0" lvl="0" marL="0" rtl="0" algn="ctr">
                        <a:spcBef>
                          <a:spcPts val="0"/>
                        </a:spcBef>
                        <a:spcAft>
                          <a:spcPts val="0"/>
                        </a:spcAft>
                        <a:buNone/>
                      </a:pPr>
                      <a:r>
                        <a:rPr lang="en-US" sz="2000"/>
                        <a:t>Ad-tech embedded in fintech</a:t>
                      </a:r>
                      <a:endParaRPr sz="2000"/>
                    </a:p>
                  </a:txBody>
                  <a:tcPr marT="91425" marB="91425" marR="91425" marL="91425"/>
                </a:tc>
              </a:tr>
              <a:tr h="474775">
                <a:tc>
                  <a:txBody>
                    <a:bodyPr/>
                    <a:lstStyle/>
                    <a:p>
                      <a:pPr indent="0" lvl="0" marL="0" rtl="0" algn="ctr">
                        <a:spcBef>
                          <a:spcPts val="0"/>
                        </a:spcBef>
                        <a:spcAft>
                          <a:spcPts val="0"/>
                        </a:spcAft>
                        <a:buNone/>
                      </a:pPr>
                      <a:r>
                        <a:rPr lang="en-US" sz="2000"/>
                        <a:t>Cookie/pixel tag </a:t>
                      </a:r>
                      <a:endParaRPr sz="2000"/>
                    </a:p>
                  </a:txBody>
                  <a:tcPr marT="91425" marB="91425" marR="91425" marL="91425"/>
                </a:tc>
                <a:tc>
                  <a:txBody>
                    <a:bodyPr/>
                    <a:lstStyle/>
                    <a:p>
                      <a:pPr indent="0" lvl="0" marL="0" rtl="0" algn="ctr">
                        <a:spcBef>
                          <a:spcPts val="0"/>
                        </a:spcBef>
                        <a:spcAft>
                          <a:spcPts val="0"/>
                        </a:spcAft>
                        <a:buNone/>
                      </a:pPr>
                      <a:r>
                        <a:rPr lang="en-US" sz="2000"/>
                        <a:t>IT highest at 65% </a:t>
                      </a:r>
                      <a:endParaRPr sz="2000"/>
                    </a:p>
                  </a:txBody>
                  <a:tcPr marT="91425" marB="91425" marR="91425" marL="91425"/>
                </a:tc>
                <a:tc>
                  <a:txBody>
                    <a:bodyPr/>
                    <a:lstStyle/>
                    <a:p>
                      <a:pPr indent="0" lvl="0" marL="0" rtl="0" algn="ctr">
                        <a:spcBef>
                          <a:spcPts val="0"/>
                        </a:spcBef>
                        <a:spcAft>
                          <a:spcPts val="0"/>
                        </a:spcAft>
                        <a:buNone/>
                      </a:pPr>
                      <a:r>
                        <a:rPr lang="en-US" sz="2000"/>
                        <a:t>Ad and analytics infrastructure </a:t>
                      </a:r>
                      <a:endParaRPr sz="2000"/>
                    </a:p>
                  </a:txBody>
                  <a:tcPr marT="91425" marB="91425" marR="91425" marL="91425"/>
                </a:tc>
              </a:tr>
              <a:tr h="474775">
                <a:tc>
                  <a:txBody>
                    <a:bodyPr/>
                    <a:lstStyle/>
                    <a:p>
                      <a:pPr indent="0" lvl="0" marL="0" rtl="0" algn="ctr">
                        <a:spcBef>
                          <a:spcPts val="0"/>
                        </a:spcBef>
                        <a:spcAft>
                          <a:spcPts val="0"/>
                        </a:spcAft>
                        <a:buNone/>
                      </a:pPr>
                      <a:r>
                        <a:rPr lang="en-US" sz="2000"/>
                        <a:t>Device identifier  </a:t>
                      </a:r>
                      <a:r>
                        <a:rPr lang="en-US" sz="2000"/>
                        <a:t> </a:t>
                      </a:r>
                      <a:endParaRPr sz="2000"/>
                    </a:p>
                  </a:txBody>
                  <a:tcPr marT="91425" marB="91425" marR="91425" marL="91425"/>
                </a:tc>
                <a:tc>
                  <a:txBody>
                    <a:bodyPr/>
                    <a:lstStyle/>
                    <a:p>
                      <a:pPr indent="0" lvl="0" marL="0" rtl="0" algn="ctr">
                        <a:spcBef>
                          <a:spcPts val="0"/>
                        </a:spcBef>
                        <a:spcAft>
                          <a:spcPts val="0"/>
                        </a:spcAft>
                        <a:buNone/>
                      </a:pPr>
                      <a:r>
                        <a:rPr lang="en-US" sz="2000"/>
                        <a:t>IT at 18% </a:t>
                      </a:r>
                      <a:endParaRPr sz="2000"/>
                    </a:p>
                  </a:txBody>
                  <a:tcPr marT="91425" marB="91425" marR="91425" marL="91425"/>
                </a:tc>
                <a:tc>
                  <a:txBody>
                    <a:bodyPr/>
                    <a:lstStyle/>
                    <a:p>
                      <a:pPr indent="0" lvl="0" marL="0" rtl="0" algn="ctr">
                        <a:spcBef>
                          <a:spcPts val="0"/>
                        </a:spcBef>
                        <a:spcAft>
                          <a:spcPts val="0"/>
                        </a:spcAft>
                        <a:buNone/>
                      </a:pPr>
                      <a:r>
                        <a:rPr lang="en-US" sz="2000"/>
                        <a:t>Multi-platform tracking </a:t>
                      </a:r>
                      <a:endParaRPr sz="2000"/>
                    </a:p>
                  </a:txBody>
                  <a:tcPr marT="91425" marB="91425" marR="91425" marL="91425"/>
                </a:tc>
              </a:tr>
              <a:tr h="619725">
                <a:tc>
                  <a:txBody>
                    <a:bodyPr/>
                    <a:lstStyle/>
                    <a:p>
                      <a:pPr indent="0" lvl="0" marL="0" rtl="0" algn="ctr">
                        <a:spcBef>
                          <a:spcPts val="0"/>
                        </a:spcBef>
                        <a:spcAft>
                          <a:spcPts val="0"/>
                        </a:spcAft>
                        <a:buNone/>
                      </a:pPr>
                      <a:r>
                        <a:rPr lang="en-US" sz="2000"/>
                        <a:t>Sensitive personal info  </a:t>
                      </a:r>
                      <a:endParaRPr sz="2000"/>
                    </a:p>
                  </a:txBody>
                  <a:tcPr marT="91425" marB="91425" marR="91425" marL="91425"/>
                </a:tc>
                <a:tc>
                  <a:txBody>
                    <a:bodyPr/>
                    <a:lstStyle/>
                    <a:p>
                      <a:pPr indent="0" lvl="0" marL="0" rtl="0" algn="ctr">
                        <a:spcBef>
                          <a:spcPts val="0"/>
                        </a:spcBef>
                        <a:spcAft>
                          <a:spcPts val="0"/>
                        </a:spcAft>
                        <a:buNone/>
                      </a:pPr>
                      <a:r>
                        <a:rPr lang="en-US" sz="2000"/>
                        <a:t>Healthcare at 16% </a:t>
                      </a:r>
                      <a:endParaRPr sz="2000"/>
                    </a:p>
                  </a:txBody>
                  <a:tcPr marT="91425" marB="91425" marR="91425" marL="91425"/>
                </a:tc>
                <a:tc>
                  <a:txBody>
                    <a:bodyPr/>
                    <a:lstStyle/>
                    <a:p>
                      <a:pPr indent="0" lvl="0" marL="0" rtl="0" algn="ctr">
                        <a:spcBef>
                          <a:spcPts val="0"/>
                        </a:spcBef>
                        <a:spcAft>
                          <a:spcPts val="0"/>
                        </a:spcAft>
                        <a:buNone/>
                      </a:pPr>
                      <a:r>
                        <a:rPr lang="en-US" sz="2000"/>
                        <a:t>HIPAA-adjacent language </a:t>
                      </a:r>
                      <a:r>
                        <a:rPr lang="en-US" sz="2000"/>
                        <a:t> </a:t>
                      </a:r>
                      <a:endParaRPr sz="2000"/>
                    </a:p>
                  </a:txBody>
                  <a:tcPr marT="91425" marB="91425" marR="91425" marL="91425"/>
                </a:tc>
              </a:tr>
              <a:tr h="474775">
                <a:tc>
                  <a:txBody>
                    <a:bodyPr/>
                    <a:lstStyle/>
                    <a:p>
                      <a:pPr indent="0" lvl="0" marL="0" rtl="0" algn="ctr">
                        <a:spcBef>
                          <a:spcPts val="0"/>
                        </a:spcBef>
                        <a:spcAft>
                          <a:spcPts val="0"/>
                        </a:spcAft>
                        <a:buNone/>
                      </a:pPr>
                      <a:r>
                        <a:rPr lang="en-US" sz="2000"/>
                        <a:t>Photograph </a:t>
                      </a:r>
                      <a:endParaRPr sz="2000"/>
                    </a:p>
                  </a:txBody>
                  <a:tcPr marT="91425" marB="91425" marR="91425" marL="91425"/>
                </a:tc>
                <a:tc>
                  <a:txBody>
                    <a:bodyPr/>
                    <a:lstStyle/>
                    <a:p>
                      <a:pPr indent="0" lvl="0" marL="0" rtl="0" algn="ctr">
                        <a:spcBef>
                          <a:spcPts val="0"/>
                        </a:spcBef>
                        <a:spcAft>
                          <a:spcPts val="0"/>
                        </a:spcAft>
                        <a:buNone/>
                      </a:pPr>
                      <a:r>
                        <a:rPr lang="en-US" sz="2000"/>
                        <a:t>Healthcare at 4% </a:t>
                      </a:r>
                      <a:endParaRPr sz="2000"/>
                    </a:p>
                  </a:txBody>
                  <a:tcPr marT="91425" marB="91425" marR="91425" marL="91425"/>
                </a:tc>
                <a:tc>
                  <a:txBody>
                    <a:bodyPr/>
                    <a:lstStyle/>
                    <a:p>
                      <a:pPr indent="0" lvl="0" marL="0" rtl="0" algn="ctr">
                        <a:spcBef>
                          <a:spcPts val="0"/>
                        </a:spcBef>
                        <a:spcAft>
                          <a:spcPts val="0"/>
                        </a:spcAft>
                        <a:buNone/>
                      </a:pPr>
                      <a:r>
                        <a:rPr lang="en-US" sz="2000"/>
                        <a:t>Clinical imaging context </a:t>
                      </a:r>
                      <a:endParaRPr sz="20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dab3b0c0e2_0_551"/>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g3dab3b0c0e2_0_551"/>
          <p:cNvSpPr txBox="1"/>
          <p:nvPr/>
        </p:nvSpPr>
        <p:spPr>
          <a:xfrm>
            <a:off x="393594" y="826611"/>
            <a:ext cx="107526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243"/>
                </a:solidFill>
              </a:rPr>
              <a:t>RQ1c - How does regulatory compliance exposure compare?</a:t>
            </a:r>
            <a:r>
              <a:rPr b="1" lang="en-US" sz="4000">
                <a:solidFill>
                  <a:srgbClr val="202122"/>
                </a:solidFill>
              </a:rPr>
              <a:t>  </a:t>
            </a:r>
            <a:endParaRPr b="0" i="0" sz="4000" u="none" cap="none" strike="noStrike">
              <a:solidFill>
                <a:srgbClr val="000000"/>
              </a:solidFill>
              <a:latin typeface="Arial"/>
              <a:ea typeface="Arial"/>
              <a:cs typeface="Arial"/>
              <a:sym typeface="Arial"/>
            </a:endParaRPr>
          </a:p>
        </p:txBody>
      </p:sp>
      <p:sp>
        <p:nvSpPr>
          <p:cNvPr id="180" name="Google Shape;180;g3dab3b0c0e2_0_551"/>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81" name="Google Shape;181;g3dab3b0c0e2_0_551"/>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82" name="Google Shape;182;g3dab3b0c0e2_0_551"/>
          <p:cNvGraphicFramePr/>
          <p:nvPr/>
        </p:nvGraphicFramePr>
        <p:xfrm>
          <a:off x="859200" y="2574450"/>
          <a:ext cx="3000000" cy="3000000"/>
        </p:xfrm>
        <a:graphic>
          <a:graphicData uri="http://schemas.openxmlformats.org/drawingml/2006/table">
            <a:tbl>
              <a:tblPr>
                <a:noFill/>
                <a:tableStyleId>{57EA327A-96FC-4A75-9489-5FF36F40FD03}</a:tableStyleId>
              </a:tblPr>
              <a:tblGrid>
                <a:gridCol w="2571750"/>
                <a:gridCol w="2571750"/>
                <a:gridCol w="2571750"/>
                <a:gridCol w="2571750"/>
              </a:tblGrid>
              <a:tr h="381000">
                <a:tc>
                  <a:txBody>
                    <a:bodyPr/>
                    <a:lstStyle/>
                    <a:p>
                      <a:pPr indent="0" lvl="0" marL="0" rtl="0" algn="l">
                        <a:spcBef>
                          <a:spcPts val="0"/>
                        </a:spcBef>
                        <a:spcAft>
                          <a:spcPts val="0"/>
                        </a:spcAft>
                        <a:buNone/>
                      </a:pPr>
                      <a:r>
                        <a:rPr b="1" lang="en-US" sz="2500">
                          <a:solidFill>
                            <a:schemeClr val="lt1"/>
                          </a:solidFill>
                        </a:rPr>
                        <a:t>Regulation</a:t>
                      </a:r>
                      <a:endParaRPr b="1" sz="25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500">
                          <a:solidFill>
                            <a:schemeClr val="lt1"/>
                          </a:solidFill>
                        </a:rPr>
                        <a:t>Healthcare</a:t>
                      </a:r>
                      <a:endParaRPr b="1" sz="25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500">
                          <a:solidFill>
                            <a:schemeClr val="lt1"/>
                          </a:solidFill>
                        </a:rPr>
                        <a:t>IT</a:t>
                      </a:r>
                      <a:endParaRPr b="1" sz="25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500">
                          <a:solidFill>
                            <a:schemeClr val="lt1"/>
                          </a:solidFill>
                        </a:rPr>
                        <a:t>Financial</a:t>
                      </a:r>
                      <a:endParaRPr b="1" sz="2500">
                        <a:solidFill>
                          <a:schemeClr val="lt1"/>
                        </a:solidFill>
                      </a:endParaRPr>
                    </a:p>
                  </a:txBody>
                  <a:tcPr marT="91425" marB="91425" marR="91425" marL="91425">
                    <a:solidFill>
                      <a:srgbClr val="001243"/>
                    </a:solidFill>
                  </a:tcPr>
                </a:tc>
              </a:tr>
              <a:tr h="381000">
                <a:tc>
                  <a:txBody>
                    <a:bodyPr/>
                    <a:lstStyle/>
                    <a:p>
                      <a:pPr indent="0" lvl="0" marL="0" rtl="0" algn="l">
                        <a:spcBef>
                          <a:spcPts val="0"/>
                        </a:spcBef>
                        <a:spcAft>
                          <a:spcPts val="0"/>
                        </a:spcAft>
                        <a:buNone/>
                      </a:pPr>
                      <a:r>
                        <a:rPr lang="en-US" sz="2400"/>
                        <a:t>GDPR</a:t>
                      </a:r>
                      <a:endParaRPr sz="2400"/>
                    </a:p>
                  </a:txBody>
                  <a:tcPr marT="91425" marB="91425" marR="91425" marL="91425"/>
                </a:tc>
                <a:tc>
                  <a:txBody>
                    <a:bodyPr/>
                    <a:lstStyle/>
                    <a:p>
                      <a:pPr indent="0" lvl="0" marL="0" rtl="0" algn="l">
                        <a:spcBef>
                          <a:spcPts val="0"/>
                        </a:spcBef>
                        <a:spcAft>
                          <a:spcPts val="0"/>
                        </a:spcAft>
                        <a:buNone/>
                      </a:pPr>
                      <a:r>
                        <a:rPr lang="en-US" sz="2400"/>
                        <a:t>45/56 (80%)</a:t>
                      </a:r>
                      <a:endParaRPr sz="2400"/>
                    </a:p>
                  </a:txBody>
                  <a:tcPr marT="91425" marB="91425" marR="91425" marL="91425"/>
                </a:tc>
                <a:tc>
                  <a:txBody>
                    <a:bodyPr/>
                    <a:lstStyle/>
                    <a:p>
                      <a:pPr indent="0" lvl="0" marL="0" rtl="0" algn="l">
                        <a:spcBef>
                          <a:spcPts val="0"/>
                        </a:spcBef>
                        <a:spcAft>
                          <a:spcPts val="0"/>
                        </a:spcAft>
                        <a:buNone/>
                      </a:pPr>
                      <a:r>
                        <a:rPr lang="en-US" sz="2400"/>
                        <a:t>58/66 (88%)</a:t>
                      </a:r>
                      <a:endParaRPr sz="2400"/>
                    </a:p>
                  </a:txBody>
                  <a:tcPr marT="91425" marB="91425" marR="91425" marL="91425"/>
                </a:tc>
                <a:tc>
                  <a:txBody>
                    <a:bodyPr/>
                    <a:lstStyle/>
                    <a:p>
                      <a:pPr indent="0" lvl="0" marL="0" rtl="0" algn="l">
                        <a:spcBef>
                          <a:spcPts val="0"/>
                        </a:spcBef>
                        <a:spcAft>
                          <a:spcPts val="0"/>
                        </a:spcAft>
                        <a:buNone/>
                      </a:pPr>
                      <a:r>
                        <a:rPr lang="en-US" sz="2400"/>
                        <a:t>55/62 (89%)</a:t>
                      </a:r>
                      <a:endParaRPr sz="2400"/>
                    </a:p>
                  </a:txBody>
                  <a:tcPr marT="91425" marB="91425" marR="91425" marL="91425"/>
                </a:tc>
              </a:tr>
              <a:tr h="381000">
                <a:tc>
                  <a:txBody>
                    <a:bodyPr/>
                    <a:lstStyle/>
                    <a:p>
                      <a:pPr indent="0" lvl="0" marL="0" rtl="0" algn="l">
                        <a:spcBef>
                          <a:spcPts val="0"/>
                        </a:spcBef>
                        <a:spcAft>
                          <a:spcPts val="0"/>
                        </a:spcAft>
                        <a:buNone/>
                      </a:pPr>
                      <a:r>
                        <a:rPr lang="en-US" sz="2400"/>
                        <a:t>CCPA</a:t>
                      </a:r>
                      <a:endParaRPr sz="2400"/>
                    </a:p>
                  </a:txBody>
                  <a:tcPr marT="91425" marB="91425" marR="91425" marL="91425"/>
                </a:tc>
                <a:tc>
                  <a:txBody>
                    <a:bodyPr/>
                    <a:lstStyle/>
                    <a:p>
                      <a:pPr indent="0" lvl="0" marL="0" rtl="0" algn="l">
                        <a:spcBef>
                          <a:spcPts val="0"/>
                        </a:spcBef>
                        <a:spcAft>
                          <a:spcPts val="0"/>
                        </a:spcAft>
                        <a:buNone/>
                      </a:pPr>
                      <a:r>
                        <a:rPr lang="en-US" sz="2400"/>
                        <a:t>43/56 (77%)</a:t>
                      </a:r>
                      <a:endParaRPr sz="2400"/>
                    </a:p>
                  </a:txBody>
                  <a:tcPr marT="91425" marB="91425" marR="91425" marL="91425"/>
                </a:tc>
                <a:tc>
                  <a:txBody>
                    <a:bodyPr/>
                    <a:lstStyle/>
                    <a:p>
                      <a:pPr indent="0" lvl="0" marL="0" rtl="0" algn="l">
                        <a:spcBef>
                          <a:spcPts val="0"/>
                        </a:spcBef>
                        <a:spcAft>
                          <a:spcPts val="0"/>
                        </a:spcAft>
                        <a:buNone/>
                      </a:pPr>
                      <a:r>
                        <a:rPr lang="en-US" sz="2400"/>
                        <a:t>54/66 (82%)</a:t>
                      </a:r>
                      <a:endParaRPr sz="2400"/>
                    </a:p>
                  </a:txBody>
                  <a:tcPr marT="91425" marB="91425" marR="91425" marL="91425"/>
                </a:tc>
                <a:tc>
                  <a:txBody>
                    <a:bodyPr/>
                    <a:lstStyle/>
                    <a:p>
                      <a:pPr indent="0" lvl="0" marL="0" rtl="0" algn="l">
                        <a:spcBef>
                          <a:spcPts val="0"/>
                        </a:spcBef>
                        <a:spcAft>
                          <a:spcPts val="0"/>
                        </a:spcAft>
                        <a:buNone/>
                      </a:pPr>
                      <a:r>
                        <a:rPr lang="en-US" sz="2400"/>
                        <a:t>54/62 (87%)</a:t>
                      </a:r>
                      <a:endParaRPr sz="2400"/>
                    </a:p>
                  </a:txBody>
                  <a:tcPr marT="91425" marB="91425" marR="91425" marL="91425"/>
                </a:tc>
              </a:tr>
              <a:tr h="381000">
                <a:tc>
                  <a:txBody>
                    <a:bodyPr/>
                    <a:lstStyle/>
                    <a:p>
                      <a:pPr indent="0" lvl="0" marL="0" rtl="0" algn="l">
                        <a:spcBef>
                          <a:spcPts val="0"/>
                        </a:spcBef>
                        <a:spcAft>
                          <a:spcPts val="0"/>
                        </a:spcAft>
                        <a:buNone/>
                      </a:pPr>
                      <a:r>
                        <a:rPr lang="en-US" sz="2400"/>
                        <a:t>HIPAA</a:t>
                      </a:r>
                      <a:endParaRPr sz="2400"/>
                    </a:p>
                  </a:txBody>
                  <a:tcPr marT="91425" marB="91425" marR="91425" marL="91425"/>
                </a:tc>
                <a:tc>
                  <a:txBody>
                    <a:bodyPr/>
                    <a:lstStyle/>
                    <a:p>
                      <a:pPr indent="0" lvl="0" marL="0" rtl="0" algn="l">
                        <a:spcBef>
                          <a:spcPts val="0"/>
                        </a:spcBef>
                        <a:spcAft>
                          <a:spcPts val="0"/>
                        </a:spcAft>
                        <a:buNone/>
                      </a:pPr>
                      <a:r>
                        <a:rPr lang="en-US" sz="2400"/>
                        <a:t>40/56 (71%)</a:t>
                      </a:r>
                      <a:endParaRPr sz="2400"/>
                    </a:p>
                  </a:txBody>
                  <a:tcPr marT="91425" marB="91425" marR="91425" marL="91425"/>
                </a:tc>
                <a:tc>
                  <a:txBody>
                    <a:bodyPr/>
                    <a:lstStyle/>
                    <a:p>
                      <a:pPr indent="0" lvl="0" marL="0" rtl="0" algn="l">
                        <a:spcBef>
                          <a:spcPts val="0"/>
                        </a:spcBef>
                        <a:spcAft>
                          <a:spcPts val="0"/>
                        </a:spcAft>
                        <a:buNone/>
                      </a:pPr>
                      <a:r>
                        <a:rPr lang="en-US" sz="2400"/>
                        <a:t>51/66 (77%)</a:t>
                      </a:r>
                      <a:endParaRPr sz="2400"/>
                    </a:p>
                  </a:txBody>
                  <a:tcPr marT="91425" marB="91425" marR="91425" marL="91425"/>
                </a:tc>
                <a:tc>
                  <a:txBody>
                    <a:bodyPr/>
                    <a:lstStyle/>
                    <a:p>
                      <a:pPr indent="0" lvl="0" marL="0" rtl="0" algn="l">
                        <a:spcBef>
                          <a:spcPts val="0"/>
                        </a:spcBef>
                        <a:spcAft>
                          <a:spcPts val="0"/>
                        </a:spcAft>
                        <a:buNone/>
                      </a:pPr>
                      <a:r>
                        <a:rPr lang="en-US" sz="2400"/>
                        <a:t>50/62 (81%)</a:t>
                      </a:r>
                      <a:endParaRPr sz="2400"/>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dab3b0c0e2_0_616"/>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8" name="Google Shape;188;g3dab3b0c0e2_0_616"/>
          <p:cNvSpPr txBox="1"/>
          <p:nvPr/>
        </p:nvSpPr>
        <p:spPr>
          <a:xfrm>
            <a:off x="393600" y="826600"/>
            <a:ext cx="11491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243"/>
                </a:solidFill>
              </a:rPr>
              <a:t>Findings &amp; Observations - Search Algorithms</a:t>
            </a:r>
            <a:endParaRPr b="0" i="0" sz="4000" u="none" cap="none" strike="noStrike">
              <a:solidFill>
                <a:srgbClr val="001243"/>
              </a:solidFill>
              <a:latin typeface="Arial"/>
              <a:ea typeface="Arial"/>
              <a:cs typeface="Arial"/>
              <a:sym typeface="Arial"/>
            </a:endParaRPr>
          </a:p>
        </p:txBody>
      </p:sp>
      <p:sp>
        <p:nvSpPr>
          <p:cNvPr id="189" name="Google Shape;189;g3dab3b0c0e2_0_616"/>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90" name="Google Shape;190;g3dab3b0c0e2_0_616"/>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91" name="Google Shape;191;g3dab3b0c0e2_0_616"/>
          <p:cNvGraphicFramePr/>
          <p:nvPr/>
        </p:nvGraphicFramePr>
        <p:xfrm>
          <a:off x="881650" y="1767275"/>
          <a:ext cx="3000000" cy="3000000"/>
        </p:xfrm>
        <a:graphic>
          <a:graphicData uri="http://schemas.openxmlformats.org/drawingml/2006/table">
            <a:tbl>
              <a:tblPr>
                <a:noFill/>
                <a:tableStyleId>{57EA327A-96FC-4A75-9489-5FF36F40FD03}</a:tableStyleId>
              </a:tblPr>
              <a:tblGrid>
                <a:gridCol w="2571750"/>
                <a:gridCol w="2586400"/>
                <a:gridCol w="2503975"/>
                <a:gridCol w="2624900"/>
              </a:tblGrid>
              <a:tr h="100000">
                <a:tc>
                  <a:txBody>
                    <a:bodyPr/>
                    <a:lstStyle/>
                    <a:p>
                      <a:pPr indent="0" lvl="0" marL="0" rtl="0" algn="ctr">
                        <a:spcBef>
                          <a:spcPts val="0"/>
                        </a:spcBef>
                        <a:spcAft>
                          <a:spcPts val="0"/>
                        </a:spcAft>
                        <a:buNone/>
                      </a:pPr>
                      <a:r>
                        <a:rPr b="1" lang="en-US" sz="2500">
                          <a:solidFill>
                            <a:schemeClr val="lt1"/>
                          </a:solidFill>
                        </a:rPr>
                        <a:t>Algorithm</a:t>
                      </a:r>
                      <a:endParaRPr b="1" sz="2500">
                        <a:solidFill>
                          <a:schemeClr val="lt1"/>
                        </a:solidFill>
                      </a:endParaRPr>
                    </a:p>
                  </a:txBody>
                  <a:tcPr marT="91425" marB="91425" marR="91425" marL="91425">
                    <a:lnR cap="flat" cmpd="sng" w="9525">
                      <a:solidFill>
                        <a:srgbClr val="9E9E9E"/>
                      </a:solidFill>
                      <a:prstDash val="solid"/>
                      <a:round/>
                      <a:headEnd len="sm" w="sm" type="none"/>
                      <a:tailEnd len="sm" w="sm" type="none"/>
                    </a:lnR>
                    <a:solidFill>
                      <a:srgbClr val="001243"/>
                    </a:solidFill>
                  </a:tcPr>
                </a:tc>
                <a:tc>
                  <a:txBody>
                    <a:bodyPr/>
                    <a:lstStyle/>
                    <a:p>
                      <a:pPr indent="0" lvl="0" marL="0" rtl="0" algn="ctr">
                        <a:spcBef>
                          <a:spcPts val="0"/>
                        </a:spcBef>
                        <a:spcAft>
                          <a:spcPts val="0"/>
                        </a:spcAft>
                        <a:buNone/>
                      </a:pPr>
                      <a:r>
                        <a:rPr b="1" lang="en-US" sz="2500">
                          <a:solidFill>
                            <a:schemeClr val="lt1"/>
                          </a:solidFill>
                        </a:rPr>
                        <a:t>What It Traced</a:t>
                      </a:r>
                      <a:endParaRPr b="1" sz="25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001243"/>
                    </a:solidFill>
                  </a:tcPr>
                </a:tc>
                <a:tc>
                  <a:txBody>
                    <a:bodyPr/>
                    <a:lstStyle/>
                    <a:p>
                      <a:pPr indent="0" lvl="0" marL="0" rtl="0" algn="ctr">
                        <a:spcBef>
                          <a:spcPts val="0"/>
                        </a:spcBef>
                        <a:spcAft>
                          <a:spcPts val="0"/>
                        </a:spcAft>
                        <a:buNone/>
                      </a:pPr>
                      <a:r>
                        <a:rPr b="1" lang="en-US" sz="2500">
                          <a:solidFill>
                            <a:schemeClr val="lt1"/>
                          </a:solidFill>
                        </a:rPr>
                        <a:t>Findings</a:t>
                      </a:r>
                      <a:endParaRPr b="1" sz="25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1243"/>
                    </a:solidFill>
                  </a:tcPr>
                </a:tc>
                <a:tc>
                  <a:txBody>
                    <a:bodyPr/>
                    <a:lstStyle/>
                    <a:p>
                      <a:pPr indent="0" lvl="0" marL="0" rtl="0" algn="ctr">
                        <a:spcBef>
                          <a:spcPts val="0"/>
                        </a:spcBef>
                        <a:spcAft>
                          <a:spcPts val="0"/>
                        </a:spcAft>
                        <a:buNone/>
                      </a:pPr>
                      <a:r>
                        <a:rPr b="1" lang="en-US" sz="2500">
                          <a:solidFill>
                            <a:schemeClr val="lt1"/>
                          </a:solidFill>
                        </a:rPr>
                        <a:t>Implications</a:t>
                      </a:r>
                      <a:endParaRPr b="1" sz="2500">
                        <a:solidFill>
                          <a:schemeClr val="lt1"/>
                        </a:solidFill>
                      </a:endParaRPr>
                    </a:p>
                  </a:txBody>
                  <a:tcPr marT="91425" marB="91425" marR="91425" marL="91425">
                    <a:lnL cap="flat" cmpd="sng" w="9525">
                      <a:solidFill>
                        <a:srgbClr val="9E9E9E"/>
                      </a:solidFill>
                      <a:prstDash val="solid"/>
                      <a:round/>
                      <a:headEnd len="sm" w="sm" type="none"/>
                      <a:tailEnd len="sm" w="sm" type="none"/>
                    </a:lnL>
                    <a:solidFill>
                      <a:srgbClr val="001243"/>
                    </a:solidFill>
                  </a:tcPr>
                </a:tc>
              </a:tr>
              <a:tr h="325350">
                <a:tc>
                  <a:txBody>
                    <a:bodyPr/>
                    <a:lstStyle/>
                    <a:p>
                      <a:pPr indent="0" lvl="0" marL="0" rtl="0" algn="ctr">
                        <a:spcBef>
                          <a:spcPts val="0"/>
                        </a:spcBef>
                        <a:spcAft>
                          <a:spcPts val="0"/>
                        </a:spcAft>
                        <a:buNone/>
                      </a:pPr>
                      <a:r>
                        <a:rPr lang="en-US" sz="2100"/>
                        <a:t>Breadth First Search (BFS) </a:t>
                      </a:r>
                      <a:endParaRPr sz="2100"/>
                    </a:p>
                  </a:txBody>
                  <a:tcPr marT="91425" marB="91425" marR="91425" marL="91425"/>
                </a:tc>
                <a:tc>
                  <a:txBody>
                    <a:bodyPr/>
                    <a:lstStyle/>
                    <a:p>
                      <a:pPr indent="0" lvl="0" marL="0" rtl="0" algn="ctr">
                        <a:spcBef>
                          <a:spcPts val="0"/>
                        </a:spcBef>
                        <a:spcAft>
                          <a:spcPts val="0"/>
                        </a:spcAft>
                        <a:buNone/>
                      </a:pPr>
                      <a:r>
                        <a:rPr lang="en-US" sz="2100"/>
                        <a:t>Breadth of "personal information" </a:t>
                      </a:r>
                      <a:endParaRPr sz="2100"/>
                    </a:p>
                  </a:txBody>
                  <a:tcPr marT="91425" marB="91425" marR="91425" marL="91425"/>
                </a:tc>
                <a:tc>
                  <a:txBody>
                    <a:bodyPr/>
                    <a:lstStyle/>
                    <a:p>
                      <a:pPr indent="0" lvl="0" marL="0" rtl="0" algn="ctr">
                        <a:spcBef>
                          <a:spcPts val="0"/>
                        </a:spcBef>
                        <a:spcAft>
                          <a:spcPts val="0"/>
                        </a:spcAft>
                        <a:buNone/>
                      </a:pPr>
                      <a:r>
                        <a:rPr lang="en-US" sz="2100"/>
                        <a:t>406 direct children, GDPR reachable in 2 hops </a:t>
                      </a:r>
                      <a:endParaRPr sz="21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sz="2100"/>
                        <a:t>Umbrella term hides hundreds of specific data types </a:t>
                      </a:r>
                      <a:endParaRPr sz="2100"/>
                    </a:p>
                  </a:txBody>
                  <a:tcPr marT="91425" marB="91425" marR="91425" marL="91425"/>
                </a:tc>
              </a:tr>
              <a:tr h="381000">
                <a:tc>
                  <a:txBody>
                    <a:bodyPr/>
                    <a:lstStyle/>
                    <a:p>
                      <a:pPr indent="0" lvl="0" marL="0" rtl="0" algn="ctr">
                        <a:spcBef>
                          <a:spcPts val="0"/>
                        </a:spcBef>
                        <a:spcAft>
                          <a:spcPts val="0"/>
                        </a:spcAft>
                        <a:buNone/>
                      </a:pPr>
                      <a:r>
                        <a:rPr lang="en-US" sz="2100"/>
                        <a:t>Depth</a:t>
                      </a:r>
                      <a:r>
                        <a:rPr lang="en-US" sz="2100"/>
                        <a:t> First Search (DFS)</a:t>
                      </a:r>
                      <a:endParaRPr sz="2100"/>
                    </a:p>
                  </a:txBody>
                  <a:tcPr marT="91425" marB="91425" marR="91425" marL="91425"/>
                </a:tc>
                <a:tc>
                  <a:txBody>
                    <a:bodyPr/>
                    <a:lstStyle/>
                    <a:p>
                      <a:pPr indent="0" lvl="0" marL="0" rtl="0" algn="ctr">
                        <a:spcBef>
                          <a:spcPts val="0"/>
                        </a:spcBef>
                        <a:spcAft>
                          <a:spcPts val="0"/>
                        </a:spcAft>
                        <a:buNone/>
                      </a:pPr>
                      <a:r>
                        <a:rPr lang="en-US" sz="2100"/>
                        <a:t>Depth of "health information" </a:t>
                      </a:r>
                      <a:endParaRPr sz="2100"/>
                    </a:p>
                  </a:txBody>
                  <a:tcPr marT="91425" marB="91425" marR="91425" marL="91425"/>
                </a:tc>
                <a:tc>
                  <a:txBody>
                    <a:bodyPr/>
                    <a:lstStyle/>
                    <a:p>
                      <a:pPr indent="0" lvl="0" marL="0" rtl="0" algn="ctr">
                        <a:spcBef>
                          <a:spcPts val="0"/>
                        </a:spcBef>
                        <a:spcAft>
                          <a:spcPts val="0"/>
                        </a:spcAft>
                        <a:buNone/>
                      </a:pPr>
                      <a:r>
                        <a:rPr lang="en-US" sz="2100"/>
                        <a:t>Only 3 nodes, no sub-types  </a:t>
                      </a:r>
                      <a:endParaRPr sz="2100"/>
                    </a:p>
                  </a:txBody>
                  <a:tcPr marT="91425" marB="91425" marR="91425" marL="91425"/>
                </a:tc>
                <a:tc>
                  <a:txBody>
                    <a:bodyPr/>
                    <a:lstStyle/>
                    <a:p>
                      <a:pPr indent="0" lvl="0" marL="0" rtl="0" algn="ctr">
                        <a:spcBef>
                          <a:spcPts val="0"/>
                        </a:spcBef>
                        <a:spcAft>
                          <a:spcPts val="0"/>
                        </a:spcAft>
                        <a:buNone/>
                      </a:pPr>
                      <a:r>
                        <a:rPr lang="en-US" sz="2100"/>
                        <a:t>HIPAA violation candidate </a:t>
                      </a:r>
                      <a:endParaRPr sz="2100"/>
                    </a:p>
                  </a:txBody>
                  <a:tcPr marT="91425" marB="91425" marR="91425" marL="91425"/>
                </a:tc>
              </a:tr>
              <a:tr h="808775">
                <a:tc>
                  <a:txBody>
                    <a:bodyPr/>
                    <a:lstStyle/>
                    <a:p>
                      <a:pPr indent="0" lvl="0" marL="0" rtl="0" algn="ctr">
                        <a:spcBef>
                          <a:spcPts val="0"/>
                        </a:spcBef>
                        <a:spcAft>
                          <a:spcPts val="0"/>
                        </a:spcAft>
                        <a:buNone/>
                      </a:pPr>
                      <a:r>
                        <a:rPr lang="en-US" sz="2100"/>
                        <a:t>Shortest path </a:t>
                      </a:r>
                      <a:endParaRPr sz="2100"/>
                    </a:p>
                  </a:txBody>
                  <a:tcPr marT="91425" marB="91425" marR="91425" marL="91425"/>
                </a:tc>
                <a:tc>
                  <a:txBody>
                    <a:bodyPr/>
                    <a:lstStyle/>
                    <a:p>
                      <a:pPr indent="0" lvl="0" marL="0" rtl="0" algn="ctr">
                        <a:spcBef>
                          <a:spcPts val="0"/>
                        </a:spcBef>
                        <a:spcAft>
                          <a:spcPts val="0"/>
                        </a:spcAft>
                        <a:buNone/>
                      </a:pPr>
                      <a:r>
                        <a:rPr lang="en-US" sz="2100"/>
                        <a:t>Distance from company to data </a:t>
                      </a:r>
                      <a:endParaRPr sz="2100"/>
                    </a:p>
                  </a:txBody>
                  <a:tcPr marT="91425" marB="91425" marR="91425" marL="91425"/>
                </a:tc>
                <a:tc>
                  <a:txBody>
                    <a:bodyPr/>
                    <a:lstStyle/>
                    <a:p>
                      <a:pPr indent="0" lvl="0" marL="0" rtl="0" algn="ctr">
                        <a:spcBef>
                          <a:spcPts val="0"/>
                        </a:spcBef>
                        <a:spcAft>
                          <a:spcPts val="0"/>
                        </a:spcAft>
                        <a:buNone/>
                      </a:pPr>
                      <a:r>
                        <a:rPr lang="en-US" sz="2100"/>
                        <a:t>2 hops for both companies  </a:t>
                      </a:r>
                      <a:endParaRPr sz="2100"/>
                    </a:p>
                  </a:txBody>
                  <a:tcPr marT="91425" marB="91425" marR="91425" marL="91425"/>
                </a:tc>
                <a:tc>
                  <a:txBody>
                    <a:bodyPr/>
                    <a:lstStyle/>
                    <a:p>
                      <a:pPr indent="0" lvl="0" marL="0" rtl="0" algn="ctr">
                        <a:spcBef>
                          <a:spcPts val="0"/>
                        </a:spcBef>
                        <a:spcAft>
                          <a:spcPts val="0"/>
                        </a:spcAft>
                        <a:buNone/>
                      </a:pPr>
                      <a:r>
                        <a:rPr lang="en-US" sz="2100"/>
                        <a:t>Direct collection is universal </a:t>
                      </a:r>
                      <a:endParaRPr sz="2100"/>
                    </a:p>
                  </a:txBody>
                  <a:tcPr marT="91425" marB="91425" marR="91425" marL="91425"/>
                </a:tc>
              </a:tr>
              <a:tr h="381000">
                <a:tc>
                  <a:txBody>
                    <a:bodyPr/>
                    <a:lstStyle/>
                    <a:p>
                      <a:pPr indent="0" lvl="0" marL="0" rtl="0" algn="ctr">
                        <a:spcBef>
                          <a:spcPts val="0"/>
                        </a:spcBef>
                        <a:spcAft>
                          <a:spcPts val="0"/>
                        </a:spcAft>
                        <a:buNone/>
                      </a:pPr>
                      <a:r>
                        <a:rPr lang="en-US" sz="2100"/>
                        <a:t>All paths </a:t>
                      </a:r>
                      <a:endParaRPr sz="2100"/>
                    </a:p>
                  </a:txBody>
                  <a:tcPr marT="91425" marB="91425" marR="91425" marL="91425"/>
                </a:tc>
                <a:tc>
                  <a:txBody>
                    <a:bodyPr/>
                    <a:lstStyle/>
                    <a:p>
                      <a:pPr indent="0" lvl="0" marL="0" rtl="0" algn="ctr">
                        <a:spcBef>
                          <a:spcPts val="0"/>
                        </a:spcBef>
                        <a:spcAft>
                          <a:spcPts val="0"/>
                        </a:spcAft>
                        <a:buNone/>
                      </a:pPr>
                      <a:r>
                        <a:rPr lang="en-US" sz="2100"/>
                        <a:t>Routes from "we" to GDPR </a:t>
                      </a:r>
                      <a:endParaRPr sz="2100"/>
                    </a:p>
                  </a:txBody>
                  <a:tcPr marT="91425" marB="91425" marR="91425" marL="91425"/>
                </a:tc>
                <a:tc>
                  <a:txBody>
                    <a:bodyPr/>
                    <a:lstStyle/>
                    <a:p>
                      <a:pPr indent="0" lvl="0" marL="0" rtl="0" algn="ctr">
                        <a:spcBef>
                          <a:spcPts val="0"/>
                        </a:spcBef>
                        <a:spcAft>
                          <a:spcPts val="0"/>
                        </a:spcAft>
                        <a:buNone/>
                      </a:pPr>
                      <a:r>
                        <a:rPr lang="en-US" sz="2100"/>
                        <a:t>1,142 paths </a:t>
                      </a:r>
                      <a:endParaRPr sz="2100"/>
                    </a:p>
                  </a:txBody>
                  <a:tcPr marT="91425" marB="91425" marR="91425" marL="91425"/>
                </a:tc>
                <a:tc>
                  <a:txBody>
                    <a:bodyPr/>
                    <a:lstStyle/>
                    <a:p>
                      <a:pPr indent="0" lvl="0" marL="0" rtl="0" algn="ctr">
                        <a:spcBef>
                          <a:spcPts val="0"/>
                        </a:spcBef>
                        <a:spcAft>
                          <a:spcPts val="0"/>
                        </a:spcAft>
                        <a:buNone/>
                      </a:pPr>
                      <a:r>
                        <a:rPr lang="en-US" sz="2100"/>
                        <a:t>Vague policy still means full regulatory exposure </a:t>
                      </a:r>
                      <a:endParaRPr sz="21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dab3b0c0e2_0_695"/>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7" name="Google Shape;197;g3dab3b0c0e2_0_695"/>
          <p:cNvSpPr txBox="1"/>
          <p:nvPr/>
        </p:nvSpPr>
        <p:spPr>
          <a:xfrm>
            <a:off x="393600" y="826600"/>
            <a:ext cx="11491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243"/>
                </a:solidFill>
              </a:rPr>
              <a:t>Findings &amp; Observations - Centrality Measures</a:t>
            </a:r>
            <a:endParaRPr b="0" i="0" sz="4000" u="none" cap="none" strike="noStrike">
              <a:solidFill>
                <a:srgbClr val="001243"/>
              </a:solidFill>
              <a:latin typeface="Arial"/>
              <a:ea typeface="Arial"/>
              <a:cs typeface="Arial"/>
              <a:sym typeface="Arial"/>
            </a:endParaRPr>
          </a:p>
        </p:txBody>
      </p:sp>
      <p:sp>
        <p:nvSpPr>
          <p:cNvPr id="198" name="Google Shape;198;g3dab3b0c0e2_0_695"/>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199" name="Google Shape;199;g3dab3b0c0e2_0_695"/>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00" name="Google Shape;200;g3dab3b0c0e2_0_695"/>
          <p:cNvGraphicFramePr/>
          <p:nvPr/>
        </p:nvGraphicFramePr>
        <p:xfrm>
          <a:off x="952500" y="2140325"/>
          <a:ext cx="3000000" cy="3000000"/>
        </p:xfrm>
        <a:graphic>
          <a:graphicData uri="http://schemas.openxmlformats.org/drawingml/2006/table">
            <a:tbl>
              <a:tblPr>
                <a:noFill/>
                <a:tableStyleId>{57EA327A-96FC-4A75-9489-5FF36F40FD03}</a:tableStyleId>
              </a:tblPr>
              <a:tblGrid>
                <a:gridCol w="3429000"/>
                <a:gridCol w="3429000"/>
                <a:gridCol w="3429000"/>
              </a:tblGrid>
              <a:tr h="100000">
                <a:tc>
                  <a:txBody>
                    <a:bodyPr/>
                    <a:lstStyle/>
                    <a:p>
                      <a:pPr indent="0" lvl="0" marL="0" rtl="0" algn="ctr">
                        <a:spcBef>
                          <a:spcPts val="0"/>
                        </a:spcBef>
                        <a:spcAft>
                          <a:spcPts val="0"/>
                        </a:spcAft>
                        <a:buNone/>
                      </a:pPr>
                      <a:r>
                        <a:rPr b="1" lang="en-US" sz="2500">
                          <a:solidFill>
                            <a:schemeClr val="lt1"/>
                          </a:solidFill>
                        </a:rPr>
                        <a:t>Measure </a:t>
                      </a:r>
                      <a:endParaRPr b="1" sz="2500">
                        <a:solidFill>
                          <a:schemeClr val="lt1"/>
                        </a:solidFill>
                      </a:endParaRPr>
                    </a:p>
                  </a:txBody>
                  <a:tcPr marT="91425" marB="91425" marR="91425" marL="91425">
                    <a:lnR cap="flat" cmpd="sng" w="9525">
                      <a:solidFill>
                        <a:srgbClr val="9E9E9E"/>
                      </a:solidFill>
                      <a:prstDash val="solid"/>
                      <a:round/>
                      <a:headEnd len="sm" w="sm" type="none"/>
                      <a:tailEnd len="sm" w="sm" type="none"/>
                    </a:lnR>
                    <a:solidFill>
                      <a:srgbClr val="001243"/>
                    </a:solidFill>
                  </a:tcPr>
                </a:tc>
                <a:tc>
                  <a:txBody>
                    <a:bodyPr/>
                    <a:lstStyle/>
                    <a:p>
                      <a:pPr indent="0" lvl="0" marL="0" rtl="0" algn="ctr">
                        <a:spcBef>
                          <a:spcPts val="0"/>
                        </a:spcBef>
                        <a:spcAft>
                          <a:spcPts val="0"/>
                        </a:spcAft>
                        <a:buNone/>
                      </a:pPr>
                      <a:r>
                        <a:rPr b="1" lang="en-US" sz="2500">
                          <a:solidFill>
                            <a:schemeClr val="lt1"/>
                          </a:solidFill>
                        </a:rPr>
                        <a:t>Question Answered </a:t>
                      </a:r>
                      <a:endParaRPr b="1" sz="25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01243"/>
                    </a:solidFill>
                  </a:tcPr>
                </a:tc>
                <a:tc>
                  <a:txBody>
                    <a:bodyPr/>
                    <a:lstStyle/>
                    <a:p>
                      <a:pPr indent="0" lvl="0" marL="0" rtl="0" algn="ctr">
                        <a:spcBef>
                          <a:spcPts val="0"/>
                        </a:spcBef>
                        <a:spcAft>
                          <a:spcPts val="0"/>
                        </a:spcAft>
                        <a:buNone/>
                      </a:pPr>
                      <a:r>
                        <a:rPr b="1" lang="en-US" sz="2500">
                          <a:solidFill>
                            <a:schemeClr val="lt1"/>
                          </a:solidFill>
                        </a:rPr>
                        <a:t>Findings </a:t>
                      </a:r>
                      <a:endParaRPr b="1" sz="2500">
                        <a:solidFill>
                          <a:schemeClr val="lt1"/>
                        </a:solidFill>
                      </a:endParaRPr>
                    </a:p>
                  </a:txBody>
                  <a:tcPr marT="91425" marB="91425" marR="91425" marL="91425">
                    <a:lnL cap="flat" cmpd="sng" w="9525">
                      <a:solidFill>
                        <a:srgbClr val="9E9E9E"/>
                      </a:solidFill>
                      <a:prstDash val="solid"/>
                      <a:round/>
                      <a:headEnd len="sm" w="sm" type="none"/>
                      <a:tailEnd len="sm" w="sm" type="none"/>
                    </a:lnL>
                    <a:solidFill>
                      <a:srgbClr val="001243"/>
                    </a:solidFill>
                  </a:tcPr>
                </a:tc>
              </a:tr>
              <a:tr h="325350">
                <a:tc>
                  <a:txBody>
                    <a:bodyPr/>
                    <a:lstStyle/>
                    <a:p>
                      <a:pPr indent="0" lvl="0" marL="0" rtl="0" algn="ctr">
                        <a:spcBef>
                          <a:spcPts val="0"/>
                        </a:spcBef>
                        <a:spcAft>
                          <a:spcPts val="0"/>
                        </a:spcAft>
                        <a:buNone/>
                      </a:pPr>
                      <a:r>
                        <a:rPr lang="en-US" sz="2100"/>
                        <a:t>PageRank </a:t>
                      </a:r>
                      <a:endParaRPr sz="2100"/>
                    </a:p>
                  </a:txBody>
                  <a:tcPr marT="91425" marB="91425" marR="91425" marL="91425"/>
                </a:tc>
                <a:tc>
                  <a:txBody>
                    <a:bodyPr/>
                    <a:lstStyle/>
                    <a:p>
                      <a:pPr indent="0" lvl="0" marL="0" rtl="0" algn="ctr">
                        <a:spcBef>
                          <a:spcPts val="0"/>
                        </a:spcBef>
                        <a:spcAft>
                          <a:spcPts val="0"/>
                        </a:spcAft>
                        <a:buNone/>
                      </a:pPr>
                      <a:r>
                        <a:rPr lang="en-US" sz="2100"/>
                        <a:t>Who has the most influence? </a:t>
                      </a:r>
                      <a:endParaRPr sz="21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sz="2100"/>
                        <a:t>"personal information" dominates </a:t>
                      </a:r>
                      <a:endParaRPr sz="2100"/>
                    </a:p>
                  </a:txBody>
                  <a:tcPr marT="91425" marB="91425" marR="91425" marL="91425"/>
                </a:tc>
              </a:tr>
              <a:tr h="381000">
                <a:tc>
                  <a:txBody>
                    <a:bodyPr/>
                    <a:lstStyle/>
                    <a:p>
                      <a:pPr indent="0" lvl="0" marL="0" rtl="0" algn="ctr">
                        <a:spcBef>
                          <a:spcPts val="0"/>
                        </a:spcBef>
                        <a:spcAft>
                          <a:spcPts val="0"/>
                        </a:spcAft>
                        <a:buNone/>
                      </a:pPr>
                      <a:r>
                        <a:rPr lang="en-US" sz="2100"/>
                        <a:t>In-Degree </a:t>
                      </a:r>
                      <a:endParaRPr sz="2100"/>
                    </a:p>
                  </a:txBody>
                  <a:tcPr marT="91425" marB="91425" marR="91425" marL="91425"/>
                </a:tc>
                <a:tc>
                  <a:txBody>
                    <a:bodyPr/>
                    <a:lstStyle/>
                    <a:p>
                      <a:pPr indent="0" lvl="0" marL="0" rtl="0" algn="ctr">
                        <a:spcBef>
                          <a:spcPts val="0"/>
                        </a:spcBef>
                        <a:spcAft>
                          <a:spcPts val="0"/>
                        </a:spcAft>
                        <a:buNone/>
                      </a:pPr>
                      <a:r>
                        <a:rPr lang="en-US" sz="2100"/>
                        <a:t>Who gets pointed at most? </a:t>
                      </a:r>
                      <a:endParaRPr sz="2100"/>
                    </a:p>
                  </a:txBody>
                  <a:tcPr marT="91425" marB="91425" marR="91425" marL="91425"/>
                </a:tc>
                <a:tc>
                  <a:txBody>
                    <a:bodyPr/>
                    <a:lstStyle/>
                    <a:p>
                      <a:pPr indent="0" lvl="0" marL="0" rtl="0" algn="ctr">
                        <a:spcBef>
                          <a:spcPts val="0"/>
                        </a:spcBef>
                        <a:spcAft>
                          <a:spcPts val="0"/>
                        </a:spcAft>
                        <a:buNone/>
                      </a:pPr>
                      <a:r>
                        <a:rPr lang="en-US" sz="2100"/>
                        <a:t>UNSPECIFIED_ACTOR = 146 (vague disclosures) </a:t>
                      </a:r>
                      <a:endParaRPr sz="2100"/>
                    </a:p>
                  </a:txBody>
                  <a:tcPr marT="91425" marB="91425" marR="91425" marL="91425"/>
                </a:tc>
              </a:tr>
              <a:tr h="381000">
                <a:tc>
                  <a:txBody>
                    <a:bodyPr/>
                    <a:lstStyle/>
                    <a:p>
                      <a:pPr indent="0" lvl="0" marL="0" rtl="0" algn="ctr">
                        <a:spcBef>
                          <a:spcPts val="0"/>
                        </a:spcBef>
                        <a:spcAft>
                          <a:spcPts val="0"/>
                        </a:spcAft>
                        <a:buNone/>
                      </a:pPr>
                      <a:r>
                        <a:rPr lang="en-US" sz="2100"/>
                        <a:t>Betweenness </a:t>
                      </a:r>
                      <a:endParaRPr sz="2100"/>
                    </a:p>
                  </a:txBody>
                  <a:tcPr marT="91425" marB="91425" marR="91425" marL="91425"/>
                </a:tc>
                <a:tc>
                  <a:txBody>
                    <a:bodyPr/>
                    <a:lstStyle/>
                    <a:p>
                      <a:pPr indent="0" lvl="0" marL="0" rtl="0" algn="ctr">
                        <a:spcBef>
                          <a:spcPts val="0"/>
                        </a:spcBef>
                        <a:spcAft>
                          <a:spcPts val="0"/>
                        </a:spcAft>
                        <a:buNone/>
                      </a:pPr>
                      <a:r>
                        <a:rPr lang="en-US" sz="2100"/>
                        <a:t>Who connects everything? </a:t>
                      </a:r>
                      <a:endParaRPr sz="2100"/>
                    </a:p>
                  </a:txBody>
                  <a:tcPr marT="91425" marB="91425" marR="91425" marL="91425"/>
                </a:tc>
                <a:tc>
                  <a:txBody>
                    <a:bodyPr/>
                    <a:lstStyle/>
                    <a:p>
                      <a:pPr indent="0" lvl="0" marL="0" rtl="0" algn="ctr">
                        <a:spcBef>
                          <a:spcPts val="0"/>
                        </a:spcBef>
                        <a:spcAft>
                          <a:spcPts val="0"/>
                        </a:spcAft>
                        <a:buNone/>
                      </a:pPr>
                      <a:r>
                        <a:rPr lang="en-US" sz="2100"/>
                        <a:t>"personal information" is the chokepoint </a:t>
                      </a:r>
                      <a:endParaRPr sz="21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g3da9f8ea407_0_4"/>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dab3b0c0e2_0_657"/>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13" name="Google Shape;213;g3dab3b0c0e2_0_657"/>
          <p:cNvPicPr preferRelativeResize="0"/>
          <p:nvPr/>
        </p:nvPicPr>
        <p:blipFill>
          <a:blip r:embed="rId3">
            <a:alphaModFix/>
          </a:blip>
          <a:stretch>
            <a:fillRect/>
          </a:stretch>
        </p:blipFill>
        <p:spPr>
          <a:xfrm>
            <a:off x="0" y="727625"/>
            <a:ext cx="12191999" cy="5545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ab3b0c0e2_0_590"/>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3dab3b0c0e2_0_590"/>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243"/>
                </a:solidFill>
              </a:rPr>
              <a:t>Findings &amp; Observations</a:t>
            </a:r>
            <a:r>
              <a:rPr lang="en-US" sz="4000">
                <a:solidFill>
                  <a:srgbClr val="001243"/>
                </a:solidFill>
              </a:rPr>
              <a:t> </a:t>
            </a:r>
            <a:endParaRPr b="0" i="0" sz="4000" u="none" cap="none" strike="noStrike">
              <a:solidFill>
                <a:srgbClr val="001243"/>
              </a:solidFill>
              <a:latin typeface="Arial"/>
              <a:ea typeface="Arial"/>
              <a:cs typeface="Arial"/>
              <a:sym typeface="Arial"/>
            </a:endParaRPr>
          </a:p>
        </p:txBody>
      </p:sp>
      <p:sp>
        <p:nvSpPr>
          <p:cNvPr id="220" name="Google Shape;220;g3dab3b0c0e2_0_590"/>
          <p:cNvSpPr txBox="1"/>
          <p:nvPr/>
        </p:nvSpPr>
        <p:spPr>
          <a:xfrm>
            <a:off x="393600" y="2356450"/>
            <a:ext cx="11264700" cy="1077300"/>
          </a:xfrm>
          <a:prstGeom prst="rect">
            <a:avLst/>
          </a:prstGeom>
          <a:solidFill>
            <a:srgbClr val="00134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chemeClr val="lt1"/>
                </a:solidFill>
              </a:rPr>
              <a:t>RQ2: </a:t>
            </a:r>
            <a:r>
              <a:rPr lang="en-US" sz="3200">
                <a:solidFill>
                  <a:schemeClr val="lt1"/>
                </a:solidFill>
              </a:rPr>
              <a:t>What data types, third-party actors, and collection patterns are characteristic of each sector's privacy policies?</a:t>
            </a:r>
            <a:r>
              <a:rPr b="1" i="1" lang="en-US" sz="3200">
                <a:solidFill>
                  <a:schemeClr val="lt1"/>
                </a:solidFill>
                <a:latin typeface="Inter Medium"/>
                <a:ea typeface="Inter Medium"/>
                <a:cs typeface="Inter Medium"/>
                <a:sym typeface="Inter Medium"/>
              </a:rPr>
              <a:t> </a:t>
            </a:r>
            <a:endParaRPr b="0" i="0" sz="3200" u="none" cap="none" strike="noStrike">
              <a:solidFill>
                <a:schemeClr val="lt1"/>
              </a:solidFill>
              <a:latin typeface="Arial"/>
              <a:ea typeface="Arial"/>
              <a:cs typeface="Arial"/>
              <a:sym typeface="Arial"/>
            </a:endParaRPr>
          </a:p>
        </p:txBody>
      </p:sp>
      <p:sp>
        <p:nvSpPr>
          <p:cNvPr id="221" name="Google Shape;221;g3dab3b0c0e2_0_590"/>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222" name="Google Shape;222;g3dab3b0c0e2_0_590"/>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dab3b0c0e2_0_598"/>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g3dab3b0c0e2_0_598"/>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001243"/>
                </a:solidFill>
              </a:rPr>
              <a:t>RQ2 — Within-Sector Comparison </a:t>
            </a:r>
            <a:endParaRPr b="0" i="0" sz="4000" u="none" cap="none" strike="noStrike">
              <a:solidFill>
                <a:srgbClr val="001243"/>
              </a:solidFill>
              <a:latin typeface="Arial"/>
              <a:ea typeface="Arial"/>
              <a:cs typeface="Arial"/>
              <a:sym typeface="Arial"/>
            </a:endParaRPr>
          </a:p>
        </p:txBody>
      </p:sp>
      <p:sp>
        <p:nvSpPr>
          <p:cNvPr id="229" name="Google Shape;229;g3dab3b0c0e2_0_598"/>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230" name="Google Shape;230;g3dab3b0c0e2_0_598"/>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31" name="Google Shape;231;g3dab3b0c0e2_0_598"/>
          <p:cNvGraphicFramePr/>
          <p:nvPr/>
        </p:nvGraphicFramePr>
        <p:xfrm>
          <a:off x="598200" y="1775475"/>
          <a:ext cx="3000000" cy="3000000"/>
        </p:xfrm>
        <a:graphic>
          <a:graphicData uri="http://schemas.openxmlformats.org/drawingml/2006/table">
            <a:tbl>
              <a:tblPr>
                <a:noFill/>
                <a:tableStyleId>{57EA327A-96FC-4A75-9489-5FF36F40FD03}</a:tableStyleId>
              </a:tblPr>
              <a:tblGrid>
                <a:gridCol w="2688150"/>
                <a:gridCol w="2688150"/>
                <a:gridCol w="2688150"/>
                <a:gridCol w="2688150"/>
              </a:tblGrid>
              <a:tr h="353700">
                <a:tc>
                  <a:txBody>
                    <a:bodyPr/>
                    <a:lstStyle/>
                    <a:p>
                      <a:pPr indent="0" lvl="0" marL="0" rtl="0" algn="l">
                        <a:spcBef>
                          <a:spcPts val="0"/>
                        </a:spcBef>
                        <a:spcAft>
                          <a:spcPts val="0"/>
                        </a:spcAft>
                        <a:buNone/>
                      </a:pPr>
                      <a:r>
                        <a:rPr b="1" lang="en-US" sz="2100">
                          <a:solidFill>
                            <a:schemeClr val="lt1"/>
                          </a:solidFill>
                        </a:rPr>
                        <a:t>Metric</a:t>
                      </a:r>
                      <a:endParaRPr b="1" sz="21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100">
                          <a:solidFill>
                            <a:schemeClr val="lt1"/>
                          </a:solidFill>
                        </a:rPr>
                        <a:t>Healthcare</a:t>
                      </a:r>
                      <a:endParaRPr b="1" sz="21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100">
                          <a:solidFill>
                            <a:schemeClr val="lt1"/>
                          </a:solidFill>
                        </a:rPr>
                        <a:t>IT</a:t>
                      </a:r>
                      <a:endParaRPr b="1" sz="2100">
                        <a:solidFill>
                          <a:schemeClr val="lt1"/>
                        </a:solidFill>
                      </a:endParaRPr>
                    </a:p>
                  </a:txBody>
                  <a:tcPr marT="91425" marB="91425" marR="91425" marL="91425">
                    <a:solidFill>
                      <a:srgbClr val="001243"/>
                    </a:solidFill>
                  </a:tcPr>
                </a:tc>
                <a:tc>
                  <a:txBody>
                    <a:bodyPr/>
                    <a:lstStyle/>
                    <a:p>
                      <a:pPr indent="0" lvl="0" marL="0" rtl="0" algn="l">
                        <a:spcBef>
                          <a:spcPts val="0"/>
                        </a:spcBef>
                        <a:spcAft>
                          <a:spcPts val="0"/>
                        </a:spcAft>
                        <a:buNone/>
                      </a:pPr>
                      <a:r>
                        <a:rPr b="1" lang="en-US" sz="2100">
                          <a:solidFill>
                            <a:schemeClr val="lt1"/>
                          </a:solidFill>
                        </a:rPr>
                        <a:t>Financial</a:t>
                      </a:r>
                      <a:endParaRPr b="1" sz="2100">
                        <a:solidFill>
                          <a:schemeClr val="lt1"/>
                        </a:solidFill>
                      </a:endParaRPr>
                    </a:p>
                  </a:txBody>
                  <a:tcPr marT="91425" marB="91425" marR="91425" marL="91425">
                    <a:solidFill>
                      <a:srgbClr val="001243"/>
                    </a:solidFill>
                  </a:tcPr>
                </a:tc>
              </a:tr>
              <a:tr h="381000">
                <a:tc>
                  <a:txBody>
                    <a:bodyPr/>
                    <a:lstStyle/>
                    <a:p>
                      <a:pPr indent="0" lvl="0" marL="0" rtl="0" algn="l">
                        <a:spcBef>
                          <a:spcPts val="0"/>
                        </a:spcBef>
                        <a:spcAft>
                          <a:spcPts val="0"/>
                        </a:spcAft>
                        <a:buNone/>
                      </a:pPr>
                      <a:r>
                        <a:rPr lang="en-US" sz="1600"/>
                        <a:t>Avg nodes / company</a:t>
                      </a:r>
                      <a:endParaRPr sz="1600"/>
                    </a:p>
                  </a:txBody>
                  <a:tcPr marT="91425" marB="91425" marR="91425" marL="91425"/>
                </a:tc>
                <a:tc>
                  <a:txBody>
                    <a:bodyPr/>
                    <a:lstStyle/>
                    <a:p>
                      <a:pPr indent="0" lvl="0" marL="0" rtl="0" algn="l">
                        <a:spcBef>
                          <a:spcPts val="0"/>
                        </a:spcBef>
                        <a:spcAft>
                          <a:spcPts val="0"/>
                        </a:spcAft>
                        <a:buNone/>
                      </a:pPr>
                      <a:r>
                        <a:rPr lang="en-US" sz="1600"/>
                        <a:t>36.6</a:t>
                      </a:r>
                      <a:endParaRPr sz="1600"/>
                    </a:p>
                  </a:txBody>
                  <a:tcPr marT="91425" marB="91425" marR="91425" marL="91425"/>
                </a:tc>
                <a:tc>
                  <a:txBody>
                    <a:bodyPr/>
                    <a:lstStyle/>
                    <a:p>
                      <a:pPr indent="0" lvl="0" marL="0" rtl="0" algn="l">
                        <a:spcBef>
                          <a:spcPts val="0"/>
                        </a:spcBef>
                        <a:spcAft>
                          <a:spcPts val="0"/>
                        </a:spcAft>
                        <a:buNone/>
                      </a:pPr>
                      <a:r>
                        <a:rPr lang="en-US" sz="1600"/>
                        <a:t>43.9</a:t>
                      </a:r>
                      <a:endParaRPr sz="1600"/>
                    </a:p>
                  </a:txBody>
                  <a:tcPr marT="91425" marB="91425" marR="91425" marL="91425"/>
                </a:tc>
                <a:tc>
                  <a:txBody>
                    <a:bodyPr/>
                    <a:lstStyle/>
                    <a:p>
                      <a:pPr indent="0" lvl="0" marL="0" rtl="0" algn="l">
                        <a:spcBef>
                          <a:spcPts val="0"/>
                        </a:spcBef>
                        <a:spcAft>
                          <a:spcPts val="0"/>
                        </a:spcAft>
                        <a:buNone/>
                      </a:pPr>
                      <a:r>
                        <a:rPr lang="en-US" sz="1600"/>
                        <a:t>42.0</a:t>
                      </a:r>
                      <a:endParaRPr sz="1600"/>
                    </a:p>
                  </a:txBody>
                  <a:tcPr marT="91425" marB="91425" marR="91425" marL="91425"/>
                </a:tc>
              </a:tr>
              <a:tr h="381000">
                <a:tc>
                  <a:txBody>
                    <a:bodyPr/>
                    <a:lstStyle/>
                    <a:p>
                      <a:pPr indent="0" lvl="0" marL="0" rtl="0" algn="l">
                        <a:spcBef>
                          <a:spcPts val="0"/>
                        </a:spcBef>
                        <a:spcAft>
                          <a:spcPts val="0"/>
                        </a:spcAft>
                        <a:buNone/>
                      </a:pPr>
                      <a:r>
                        <a:rPr lang="en-US" sz="1600"/>
                        <a:t>Avg edges / company</a:t>
                      </a:r>
                      <a:endParaRPr sz="1600"/>
                    </a:p>
                  </a:txBody>
                  <a:tcPr marT="91425" marB="91425" marR="91425" marL="91425"/>
                </a:tc>
                <a:tc>
                  <a:txBody>
                    <a:bodyPr/>
                    <a:lstStyle/>
                    <a:p>
                      <a:pPr indent="0" lvl="0" marL="0" rtl="0" algn="l">
                        <a:spcBef>
                          <a:spcPts val="0"/>
                        </a:spcBef>
                        <a:spcAft>
                          <a:spcPts val="0"/>
                        </a:spcAft>
                        <a:buNone/>
                      </a:pPr>
                      <a:r>
                        <a:rPr lang="en-US" sz="1600"/>
                        <a:t>41.3</a:t>
                      </a:r>
                      <a:endParaRPr sz="1600"/>
                    </a:p>
                  </a:txBody>
                  <a:tcPr marT="91425" marB="91425" marR="91425" marL="91425"/>
                </a:tc>
                <a:tc>
                  <a:txBody>
                    <a:bodyPr/>
                    <a:lstStyle/>
                    <a:p>
                      <a:pPr indent="0" lvl="0" marL="0" rtl="0" algn="l">
                        <a:spcBef>
                          <a:spcPts val="0"/>
                        </a:spcBef>
                        <a:spcAft>
                          <a:spcPts val="0"/>
                        </a:spcAft>
                        <a:buNone/>
                      </a:pPr>
                      <a:r>
                        <a:rPr lang="en-US" sz="1600"/>
                        <a:t>49.8</a:t>
                      </a:r>
                      <a:endParaRPr sz="1600"/>
                    </a:p>
                  </a:txBody>
                  <a:tcPr marT="91425" marB="91425" marR="91425" marL="91425"/>
                </a:tc>
                <a:tc>
                  <a:txBody>
                    <a:bodyPr/>
                    <a:lstStyle/>
                    <a:p>
                      <a:pPr indent="0" lvl="0" marL="0" rtl="0" algn="l">
                        <a:spcBef>
                          <a:spcPts val="0"/>
                        </a:spcBef>
                        <a:spcAft>
                          <a:spcPts val="0"/>
                        </a:spcAft>
                        <a:buNone/>
                      </a:pPr>
                      <a:r>
                        <a:rPr lang="en-US" sz="1600"/>
                        <a:t>49.9</a:t>
                      </a:r>
                      <a:endParaRPr sz="1600"/>
                    </a:p>
                  </a:txBody>
                  <a:tcPr marT="91425" marB="91425" marR="91425" marL="91425"/>
                </a:tc>
              </a:tr>
              <a:tr h="381000">
                <a:tc>
                  <a:txBody>
                    <a:bodyPr/>
                    <a:lstStyle/>
                    <a:p>
                      <a:pPr indent="0" lvl="0" marL="0" rtl="0" algn="l">
                        <a:spcBef>
                          <a:spcPts val="0"/>
                        </a:spcBef>
                        <a:spcAft>
                          <a:spcPts val="0"/>
                        </a:spcAft>
                        <a:buNone/>
                      </a:pPr>
                      <a:r>
                        <a:rPr lang="en-US" sz="1600"/>
                        <a:t>Sector KG edges </a:t>
                      </a:r>
                      <a:endParaRPr sz="1600"/>
                    </a:p>
                  </a:txBody>
                  <a:tcPr marT="91425" marB="91425" marR="91425" marL="91425"/>
                </a:tc>
                <a:tc>
                  <a:txBody>
                    <a:bodyPr/>
                    <a:lstStyle/>
                    <a:p>
                      <a:pPr indent="0" lvl="0" marL="0" rtl="0" algn="l">
                        <a:spcBef>
                          <a:spcPts val="0"/>
                        </a:spcBef>
                        <a:spcAft>
                          <a:spcPts val="0"/>
                        </a:spcAft>
                        <a:buNone/>
                      </a:pPr>
                      <a:r>
                        <a:rPr lang="en-US" sz="1600"/>
                        <a:t>105</a:t>
                      </a:r>
                      <a:endParaRPr sz="1600"/>
                    </a:p>
                  </a:txBody>
                  <a:tcPr marT="91425" marB="91425" marR="91425" marL="91425"/>
                </a:tc>
                <a:tc>
                  <a:txBody>
                    <a:bodyPr/>
                    <a:lstStyle/>
                    <a:p>
                      <a:pPr indent="0" lvl="0" marL="0" rtl="0" algn="l">
                        <a:spcBef>
                          <a:spcPts val="0"/>
                        </a:spcBef>
                        <a:spcAft>
                          <a:spcPts val="0"/>
                        </a:spcAft>
                        <a:buNone/>
                      </a:pPr>
                      <a:r>
                        <a:rPr lang="en-US" sz="1600"/>
                        <a:t>110</a:t>
                      </a:r>
                      <a:endParaRPr sz="1600"/>
                    </a:p>
                  </a:txBody>
                  <a:tcPr marT="91425" marB="91425" marR="91425" marL="91425"/>
                </a:tc>
                <a:tc>
                  <a:txBody>
                    <a:bodyPr/>
                    <a:lstStyle/>
                    <a:p>
                      <a:pPr indent="0" lvl="0" marL="0" rtl="0" algn="l">
                        <a:spcBef>
                          <a:spcPts val="0"/>
                        </a:spcBef>
                        <a:spcAft>
                          <a:spcPts val="0"/>
                        </a:spcAft>
                        <a:buNone/>
                      </a:pPr>
                      <a:r>
                        <a:rPr lang="en-US" sz="1600"/>
                        <a:t>123</a:t>
                      </a:r>
                      <a:endParaRPr sz="1600"/>
                    </a:p>
                  </a:txBody>
                  <a:tcPr marT="91425" marB="91425" marR="91425" marL="91425"/>
                </a:tc>
              </a:tr>
              <a:tr h="381000">
                <a:tc>
                  <a:txBody>
                    <a:bodyPr/>
                    <a:lstStyle/>
                    <a:p>
                      <a:pPr indent="0" lvl="0" marL="0" rtl="0" algn="l">
                        <a:spcBef>
                          <a:spcPts val="0"/>
                        </a:spcBef>
                        <a:spcAft>
                          <a:spcPts val="0"/>
                        </a:spcAft>
                        <a:buNone/>
                      </a:pPr>
                      <a:r>
                        <a:rPr lang="en-US" sz="1600"/>
                        <a:t>Top data collected</a:t>
                      </a:r>
                      <a:endParaRPr sz="1600"/>
                    </a:p>
                  </a:txBody>
                  <a:tcPr marT="91425" marB="91425" marR="91425" marL="91425"/>
                </a:tc>
                <a:tc>
                  <a:txBody>
                    <a:bodyPr/>
                    <a:lstStyle/>
                    <a:p>
                      <a:pPr indent="0" lvl="0" marL="0" rtl="0" algn="l">
                        <a:spcBef>
                          <a:spcPts val="0"/>
                        </a:spcBef>
                        <a:spcAft>
                          <a:spcPts val="0"/>
                        </a:spcAft>
                        <a:buNone/>
                      </a:pPr>
                      <a:r>
                        <a:rPr lang="en-US" sz="1600"/>
                        <a:t>Person name (59%)</a:t>
                      </a:r>
                      <a:endParaRPr sz="1600"/>
                    </a:p>
                  </a:txBody>
                  <a:tcPr marT="91425" marB="91425" marR="91425" marL="91425"/>
                </a:tc>
                <a:tc>
                  <a:txBody>
                    <a:bodyPr/>
                    <a:lstStyle/>
                    <a:p>
                      <a:pPr indent="0" lvl="0" marL="0" rtl="0" algn="l">
                        <a:spcBef>
                          <a:spcPts val="0"/>
                        </a:spcBef>
                        <a:spcAft>
                          <a:spcPts val="0"/>
                        </a:spcAft>
                        <a:buNone/>
                      </a:pPr>
                      <a:r>
                        <a:rPr lang="en-US" sz="1600"/>
                        <a:t>Cookie/pixel tag (65%)</a:t>
                      </a:r>
                      <a:endParaRPr sz="1600"/>
                    </a:p>
                  </a:txBody>
                  <a:tcPr marT="91425" marB="91425" marR="91425" marL="91425"/>
                </a:tc>
                <a:tc>
                  <a:txBody>
                    <a:bodyPr/>
                    <a:lstStyle/>
                    <a:p>
                      <a:pPr indent="0" lvl="0" marL="0" rtl="0" algn="l">
                        <a:spcBef>
                          <a:spcPts val="0"/>
                        </a:spcBef>
                        <a:spcAft>
                          <a:spcPts val="0"/>
                        </a:spcAft>
                        <a:buNone/>
                      </a:pPr>
                      <a:r>
                        <a:rPr lang="en-US" sz="1600"/>
                        <a:t>Cookie/pixel tag (58%)</a:t>
                      </a:r>
                      <a:endParaRPr sz="1600"/>
                    </a:p>
                  </a:txBody>
                  <a:tcPr marT="91425" marB="91425" marR="91425" marL="91425"/>
                </a:tc>
              </a:tr>
              <a:tr h="381000">
                <a:tc>
                  <a:txBody>
                    <a:bodyPr/>
                    <a:lstStyle/>
                    <a:p>
                      <a:pPr indent="0" lvl="0" marL="0" rtl="0" algn="l">
                        <a:spcBef>
                          <a:spcPts val="0"/>
                        </a:spcBef>
                        <a:spcAft>
                          <a:spcPts val="0"/>
                        </a:spcAft>
                        <a:buNone/>
                      </a:pPr>
                      <a:r>
                        <a:rPr lang="en-US" sz="1600"/>
                        <a:t>#2 data collected</a:t>
                      </a:r>
                      <a:endParaRPr sz="1600"/>
                    </a:p>
                  </a:txBody>
                  <a:tcPr marT="91425" marB="91425" marR="91425" marL="91425"/>
                </a:tc>
                <a:tc>
                  <a:txBody>
                    <a:bodyPr/>
                    <a:lstStyle/>
                    <a:p>
                      <a:pPr indent="0" lvl="0" marL="0" rtl="0" algn="l">
                        <a:spcBef>
                          <a:spcPts val="0"/>
                        </a:spcBef>
                        <a:spcAft>
                          <a:spcPts val="0"/>
                        </a:spcAft>
                        <a:buNone/>
                      </a:pPr>
                      <a:r>
                        <a:rPr lang="en-US" sz="1600"/>
                        <a:t>Email Address (54%)</a:t>
                      </a:r>
                      <a:endParaRPr sz="1600"/>
                    </a:p>
                  </a:txBody>
                  <a:tcPr marT="91425" marB="91425" marR="91425" marL="91425"/>
                </a:tc>
                <a:tc>
                  <a:txBody>
                    <a:bodyPr/>
                    <a:lstStyle/>
                    <a:p>
                      <a:pPr indent="0" lvl="0" marL="0" rtl="0" algn="l">
                        <a:spcBef>
                          <a:spcPts val="0"/>
                        </a:spcBef>
                        <a:spcAft>
                          <a:spcPts val="0"/>
                        </a:spcAft>
                        <a:buNone/>
                      </a:pPr>
                      <a:r>
                        <a:rPr lang="en-US" sz="1600"/>
                        <a:t>Person name (58%)</a:t>
                      </a:r>
                      <a:endParaRPr sz="1600"/>
                    </a:p>
                  </a:txBody>
                  <a:tcPr marT="91425" marB="91425" marR="91425" marL="91425"/>
                </a:tc>
                <a:tc>
                  <a:txBody>
                    <a:bodyPr/>
                    <a:lstStyle/>
                    <a:p>
                      <a:pPr indent="0" lvl="0" marL="0" rtl="0" algn="l">
                        <a:spcBef>
                          <a:spcPts val="0"/>
                        </a:spcBef>
                        <a:spcAft>
                          <a:spcPts val="0"/>
                        </a:spcAft>
                        <a:buNone/>
                      </a:pPr>
                      <a:r>
                        <a:rPr lang="en-US" sz="1600"/>
                        <a:t>Email Address (53%)</a:t>
                      </a:r>
                      <a:endParaRPr sz="1600"/>
                    </a:p>
                  </a:txBody>
                  <a:tcPr marT="91425" marB="91425" marR="91425" marL="91425"/>
                </a:tc>
              </a:tr>
              <a:tr h="381000">
                <a:tc>
                  <a:txBody>
                    <a:bodyPr/>
                    <a:lstStyle/>
                    <a:p>
                      <a:pPr indent="0" lvl="0" marL="0" rtl="0" algn="l">
                        <a:spcBef>
                          <a:spcPts val="0"/>
                        </a:spcBef>
                        <a:spcAft>
                          <a:spcPts val="0"/>
                        </a:spcAft>
                        <a:buNone/>
                      </a:pPr>
                      <a:r>
                        <a:rPr lang="en-US" sz="1600"/>
                        <a:t>#3 data collected</a:t>
                      </a:r>
                      <a:endParaRPr sz="1600"/>
                    </a:p>
                  </a:txBody>
                  <a:tcPr marT="91425" marB="91425" marR="91425" marL="91425"/>
                </a:tc>
                <a:tc>
                  <a:txBody>
                    <a:bodyPr/>
                    <a:lstStyle/>
                    <a:p>
                      <a:pPr indent="0" lvl="0" marL="0" rtl="0" algn="l">
                        <a:spcBef>
                          <a:spcPts val="0"/>
                        </a:spcBef>
                        <a:spcAft>
                          <a:spcPts val="0"/>
                        </a:spcAft>
                        <a:buNone/>
                      </a:pPr>
                      <a:r>
                        <a:rPr lang="en-US" sz="1600"/>
                        <a:t>Cookie/pixel tag (52%)</a:t>
                      </a:r>
                      <a:endParaRPr sz="1600"/>
                    </a:p>
                  </a:txBody>
                  <a:tcPr marT="91425" marB="91425" marR="91425" marL="91425"/>
                </a:tc>
                <a:tc>
                  <a:txBody>
                    <a:bodyPr/>
                    <a:lstStyle/>
                    <a:p>
                      <a:pPr indent="0" lvl="0" marL="0" rtl="0" algn="l">
                        <a:spcBef>
                          <a:spcPts val="0"/>
                        </a:spcBef>
                        <a:spcAft>
                          <a:spcPts val="0"/>
                        </a:spcAft>
                        <a:buNone/>
                      </a:pPr>
                      <a:r>
                        <a:rPr lang="en-US" sz="1600"/>
                        <a:t>Email Address (53%)</a:t>
                      </a:r>
                      <a:endParaRPr sz="1600"/>
                    </a:p>
                  </a:txBody>
                  <a:tcPr marT="91425" marB="91425" marR="91425" marL="91425"/>
                </a:tc>
                <a:tc>
                  <a:txBody>
                    <a:bodyPr/>
                    <a:lstStyle/>
                    <a:p>
                      <a:pPr indent="0" lvl="0" marL="0" rtl="0" algn="l">
                        <a:spcBef>
                          <a:spcPts val="0"/>
                        </a:spcBef>
                        <a:spcAft>
                          <a:spcPts val="0"/>
                        </a:spcAft>
                        <a:buNone/>
                      </a:pPr>
                      <a:r>
                        <a:rPr lang="en-US" sz="1600"/>
                        <a:t>Person name (48%)</a:t>
                      </a:r>
                      <a:endParaRPr sz="1600"/>
                    </a:p>
                  </a:txBody>
                  <a:tcPr marT="91425" marB="91425" marR="91425" marL="91425"/>
                </a:tc>
              </a:tr>
              <a:tr h="381000">
                <a:tc>
                  <a:txBody>
                    <a:bodyPr/>
                    <a:lstStyle/>
                    <a:p>
                      <a:pPr indent="0" lvl="0" marL="0" rtl="0" algn="l">
                        <a:spcBef>
                          <a:spcPts val="0"/>
                        </a:spcBef>
                        <a:spcAft>
                          <a:spcPts val="0"/>
                        </a:spcAft>
                        <a:buNone/>
                      </a:pPr>
                      <a:r>
                        <a:rPr lang="en-US" sz="1600"/>
                        <a:t>Most distinctive type</a:t>
                      </a:r>
                      <a:endParaRPr sz="1600"/>
                    </a:p>
                  </a:txBody>
                  <a:tcPr marT="91425" marB="91425" marR="91425" marL="91425"/>
                </a:tc>
                <a:tc>
                  <a:txBody>
                    <a:bodyPr/>
                    <a:lstStyle/>
                    <a:p>
                      <a:pPr indent="0" lvl="0" marL="0" rtl="0" algn="l">
                        <a:spcBef>
                          <a:spcPts val="0"/>
                        </a:spcBef>
                        <a:spcAft>
                          <a:spcPts val="0"/>
                        </a:spcAft>
                        <a:buNone/>
                      </a:pPr>
                      <a:r>
                        <a:rPr lang="en-US" sz="1600"/>
                        <a:t>Sensitive personal info (16%)</a:t>
                      </a:r>
                      <a:endParaRPr sz="1600"/>
                    </a:p>
                  </a:txBody>
                  <a:tcPr marT="91425" marB="91425" marR="91425" marL="91425"/>
                </a:tc>
                <a:tc>
                  <a:txBody>
                    <a:bodyPr/>
                    <a:lstStyle/>
                    <a:p>
                      <a:pPr indent="0" lvl="0" marL="0" rtl="0" algn="l">
                        <a:spcBef>
                          <a:spcPts val="0"/>
                        </a:spcBef>
                        <a:spcAft>
                          <a:spcPts val="0"/>
                        </a:spcAft>
                        <a:buNone/>
                      </a:pPr>
                      <a:r>
                        <a:rPr lang="en-US" sz="1600"/>
                        <a:t>Cookie/pixel tag (65%)</a:t>
                      </a:r>
                      <a:endParaRPr sz="1600"/>
                    </a:p>
                  </a:txBody>
                  <a:tcPr marT="91425" marB="91425" marR="91425" marL="91425"/>
                </a:tc>
                <a:tc>
                  <a:txBody>
                    <a:bodyPr/>
                    <a:lstStyle/>
                    <a:p>
                      <a:pPr indent="0" lvl="0" marL="0" rtl="0" algn="l">
                        <a:spcBef>
                          <a:spcPts val="0"/>
                        </a:spcBef>
                        <a:spcAft>
                          <a:spcPts val="0"/>
                        </a:spcAft>
                        <a:buNone/>
                      </a:pPr>
                      <a:r>
                        <a:rPr lang="en-US" sz="1600"/>
                        <a:t>SSN (34%)</a:t>
                      </a:r>
                      <a:endParaRPr sz="1600"/>
                    </a:p>
                  </a:txBody>
                  <a:tcPr marT="91425" marB="91425" marR="91425" marL="91425"/>
                </a:tc>
              </a:tr>
              <a:tr h="381000">
                <a:tc>
                  <a:txBody>
                    <a:bodyPr/>
                    <a:lstStyle/>
                    <a:p>
                      <a:pPr indent="0" lvl="0" marL="0" rtl="0" algn="l">
                        <a:spcBef>
                          <a:spcPts val="0"/>
                        </a:spcBef>
                        <a:spcAft>
                          <a:spcPts val="0"/>
                        </a:spcAft>
                        <a:buNone/>
                      </a:pPr>
                      <a:r>
                        <a:rPr lang="en-US" sz="1600"/>
                        <a:t>Top third-party actor</a:t>
                      </a:r>
                      <a:endParaRPr sz="1600"/>
                    </a:p>
                  </a:txBody>
                  <a:tcPr marT="91425" marB="91425" marR="91425" marL="91425"/>
                </a:tc>
                <a:tc>
                  <a:txBody>
                    <a:bodyPr/>
                    <a:lstStyle/>
                    <a:p>
                      <a:pPr indent="0" lvl="0" marL="0" rtl="0" algn="l">
                        <a:spcBef>
                          <a:spcPts val="0"/>
                        </a:spcBef>
                        <a:spcAft>
                          <a:spcPts val="0"/>
                        </a:spcAft>
                        <a:buNone/>
                      </a:pPr>
                      <a:r>
                        <a:rPr lang="en-US" sz="1600"/>
                        <a:t>Social media (36%)</a:t>
                      </a:r>
                      <a:endParaRPr sz="1600"/>
                    </a:p>
                  </a:txBody>
                  <a:tcPr marT="91425" marB="91425" marR="91425" marL="91425"/>
                </a:tc>
                <a:tc>
                  <a:txBody>
                    <a:bodyPr/>
                    <a:lstStyle/>
                    <a:p>
                      <a:pPr indent="0" lvl="0" marL="0" rtl="0" algn="l">
                        <a:spcBef>
                          <a:spcPts val="0"/>
                        </a:spcBef>
                        <a:spcAft>
                          <a:spcPts val="0"/>
                        </a:spcAft>
                        <a:buNone/>
                      </a:pPr>
                      <a:r>
                        <a:rPr lang="en-US" sz="1600"/>
                        <a:t>Service provider (26%)</a:t>
                      </a:r>
                      <a:endParaRPr sz="1600"/>
                    </a:p>
                  </a:txBody>
                  <a:tcPr marT="91425" marB="91425" marR="91425" marL="91425"/>
                </a:tc>
                <a:tc>
                  <a:txBody>
                    <a:bodyPr/>
                    <a:lstStyle/>
                    <a:p>
                      <a:pPr indent="0" lvl="0" marL="0" rtl="0" algn="l">
                        <a:spcBef>
                          <a:spcPts val="0"/>
                        </a:spcBef>
                        <a:spcAft>
                          <a:spcPts val="0"/>
                        </a:spcAft>
                        <a:buNone/>
                      </a:pPr>
                      <a:r>
                        <a:rPr lang="en-US" sz="1600"/>
                        <a:t>Service provider (40%)</a:t>
                      </a:r>
                      <a:endParaRPr sz="1600"/>
                    </a:p>
                  </a:txBody>
                  <a:tcPr marT="91425" marB="91425" marR="91425" marL="91425"/>
                </a:tc>
              </a:tr>
              <a:tr h="381000">
                <a:tc>
                  <a:txBody>
                    <a:bodyPr/>
                    <a:lstStyle/>
                    <a:p>
                      <a:pPr indent="0" lvl="0" marL="0" rtl="0" algn="l">
                        <a:spcBef>
                          <a:spcPts val="0"/>
                        </a:spcBef>
                        <a:spcAft>
                          <a:spcPts val="0"/>
                        </a:spcAft>
                        <a:buNone/>
                      </a:pPr>
                      <a:r>
                        <a:rPr lang="en-US" sz="1600"/>
                        <a:t>Unique data vocabulary</a:t>
                      </a:r>
                      <a:endParaRPr sz="1600"/>
                    </a:p>
                  </a:txBody>
                  <a:tcPr marT="91425" marB="91425" marR="91425" marL="91425"/>
                </a:tc>
                <a:tc>
                  <a:txBody>
                    <a:bodyPr/>
                    <a:lstStyle/>
                    <a:p>
                      <a:pPr indent="0" lvl="0" marL="0" rtl="0" algn="l">
                        <a:spcBef>
                          <a:spcPts val="0"/>
                        </a:spcBef>
                        <a:spcAft>
                          <a:spcPts val="0"/>
                        </a:spcAft>
                        <a:buNone/>
                      </a:pPr>
                      <a:r>
                        <a:rPr lang="en-US" sz="1600"/>
                        <a:t>715 types</a:t>
                      </a:r>
                      <a:endParaRPr sz="1600"/>
                    </a:p>
                  </a:txBody>
                  <a:tcPr marT="91425" marB="91425" marR="91425" marL="91425"/>
                </a:tc>
                <a:tc>
                  <a:txBody>
                    <a:bodyPr/>
                    <a:lstStyle/>
                    <a:p>
                      <a:pPr indent="0" lvl="0" marL="0" rtl="0" algn="l">
                        <a:spcBef>
                          <a:spcPts val="0"/>
                        </a:spcBef>
                        <a:spcAft>
                          <a:spcPts val="0"/>
                        </a:spcAft>
                        <a:buNone/>
                      </a:pPr>
                      <a:r>
                        <a:rPr lang="en-US" sz="1600"/>
                        <a:t>718 types</a:t>
                      </a:r>
                      <a:endParaRPr sz="1600"/>
                    </a:p>
                  </a:txBody>
                  <a:tcPr marT="91425" marB="91425" marR="91425" marL="91425"/>
                </a:tc>
                <a:tc>
                  <a:txBody>
                    <a:bodyPr/>
                    <a:lstStyle/>
                    <a:p>
                      <a:pPr indent="0" lvl="0" marL="0" rtl="0" algn="l">
                        <a:spcBef>
                          <a:spcPts val="0"/>
                        </a:spcBef>
                        <a:spcAft>
                          <a:spcPts val="0"/>
                        </a:spcAft>
                        <a:buNone/>
                      </a:pPr>
                      <a:r>
                        <a:rPr lang="en-US" sz="1600"/>
                        <a:t>715 types</a:t>
                      </a:r>
                      <a:endParaRPr sz="1600"/>
                    </a:p>
                  </a:txBody>
                  <a:tcPr marT="91425" marB="91425" marR="91425" marL="91425"/>
                </a:tc>
              </a:tr>
            </a:tbl>
          </a:graphicData>
        </a:graphic>
      </p:graphicFrame>
      <p:sp>
        <p:nvSpPr>
          <p:cNvPr id="232" name="Google Shape;232;g3dab3b0c0e2_0_59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#2 data collected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dab3b0c0e2_0_607"/>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8" name="Google Shape;238;g3dab3b0c0e2_0_607"/>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202122"/>
                </a:solidFill>
              </a:rPr>
              <a:t>Findings &amp; Observations (RQ2)</a:t>
            </a:r>
            <a:r>
              <a:rPr lang="en-US" sz="4000"/>
              <a:t> </a:t>
            </a:r>
            <a:endParaRPr b="0" i="0" sz="4000" u="none" cap="none" strike="noStrike">
              <a:solidFill>
                <a:srgbClr val="000000"/>
              </a:solidFill>
              <a:latin typeface="Arial"/>
              <a:ea typeface="Arial"/>
              <a:cs typeface="Arial"/>
              <a:sym typeface="Arial"/>
            </a:endParaRPr>
          </a:p>
        </p:txBody>
      </p:sp>
      <p:sp>
        <p:nvSpPr>
          <p:cNvPr id="239" name="Google Shape;239;g3dab3b0c0e2_0_607"/>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pic>
        <p:nvPicPr>
          <p:cNvPr id="240" name="Google Shape;240;g3dab3b0c0e2_0_607"/>
          <p:cNvPicPr preferRelativeResize="0"/>
          <p:nvPr/>
        </p:nvPicPr>
        <p:blipFill>
          <a:blip r:embed="rId3">
            <a:alphaModFix/>
          </a:blip>
          <a:stretch>
            <a:fillRect/>
          </a:stretch>
        </p:blipFill>
        <p:spPr>
          <a:xfrm>
            <a:off x="0" y="1534600"/>
            <a:ext cx="11990252" cy="5101676"/>
          </a:xfrm>
          <a:prstGeom prst="rect">
            <a:avLst/>
          </a:prstGeom>
          <a:noFill/>
          <a:ln>
            <a:noFill/>
          </a:ln>
        </p:spPr>
      </p:pic>
      <p:sp>
        <p:nvSpPr>
          <p:cNvPr id="241" name="Google Shape;241;g3dab3b0c0e2_0_607"/>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dab3b0c0e2_0_855"/>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7" name="Google Shape;247;g3dab3b0c0e2_0_855"/>
          <p:cNvSpPr txBox="1"/>
          <p:nvPr/>
        </p:nvSpPr>
        <p:spPr>
          <a:xfrm>
            <a:off x="393594" y="826611"/>
            <a:ext cx="10752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000">
                <a:solidFill>
                  <a:srgbClr val="202122"/>
                </a:solidFill>
              </a:rPr>
              <a:t>Reflections</a:t>
            </a:r>
            <a:endParaRPr b="0" i="0" sz="4000" u="none" cap="none" strike="noStrike">
              <a:solidFill>
                <a:srgbClr val="000000"/>
              </a:solidFill>
              <a:latin typeface="Arial"/>
              <a:ea typeface="Arial"/>
              <a:cs typeface="Arial"/>
              <a:sym typeface="Arial"/>
            </a:endParaRPr>
          </a:p>
        </p:txBody>
      </p:sp>
      <p:sp>
        <p:nvSpPr>
          <p:cNvPr id="248" name="Google Shape;248;g3dab3b0c0e2_0_855"/>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249" name="Google Shape;249;g3dab3b0c0e2_0_855"/>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250" name="Google Shape;250;g3dab3b0c0e2_0_855"/>
          <p:cNvSpPr txBox="1"/>
          <p:nvPr/>
        </p:nvSpPr>
        <p:spPr>
          <a:xfrm>
            <a:off x="804225" y="1657475"/>
            <a:ext cx="10910400" cy="43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t>What went well? </a:t>
            </a:r>
            <a:endParaRPr b="1" sz="2200"/>
          </a:p>
          <a:p>
            <a:pPr indent="-342900" lvl="0" marL="457200" rtl="0" algn="l">
              <a:spcBef>
                <a:spcPts val="0"/>
              </a:spcBef>
              <a:spcAft>
                <a:spcPts val="0"/>
              </a:spcAft>
              <a:buSzPts val="1800"/>
              <a:buChar char="❏"/>
            </a:pPr>
            <a:r>
              <a:rPr lang="en-US" sz="1800"/>
              <a:t>Unified KG revealed patterns invisible in text </a:t>
            </a:r>
            <a:endParaRPr sz="1800"/>
          </a:p>
          <a:p>
            <a:pPr indent="-342900" lvl="0" marL="457200" rtl="0" algn="l">
              <a:spcBef>
                <a:spcPts val="0"/>
              </a:spcBef>
              <a:spcAft>
                <a:spcPts val="0"/>
              </a:spcAft>
              <a:buSzPts val="1800"/>
              <a:buChar char="❏"/>
            </a:pPr>
            <a:r>
              <a:rPr lang="en-US" sz="1800"/>
              <a:t>Cross-sector scale (184 companies, 3 sectors) </a:t>
            </a:r>
            <a:endParaRPr sz="1800"/>
          </a:p>
          <a:p>
            <a:pPr indent="-342900" lvl="0" marL="457200" rtl="0" algn="l">
              <a:spcBef>
                <a:spcPts val="0"/>
              </a:spcBef>
              <a:spcAft>
                <a:spcPts val="0"/>
              </a:spcAft>
              <a:buSzPts val="1800"/>
              <a:buChar char="❏"/>
            </a:pPr>
            <a:r>
              <a:rPr lang="en-US" sz="1800"/>
              <a:t>Centrality surfaced unexpected findings (UNSPECIFIED_ACTOR, 146 edges) </a:t>
            </a:r>
            <a:endParaRPr sz="1800"/>
          </a:p>
          <a:p>
            <a:pPr indent="0" lvl="0" marL="0" rtl="0" algn="l">
              <a:spcBef>
                <a:spcPts val="0"/>
              </a:spcBef>
              <a:spcAft>
                <a:spcPts val="0"/>
              </a:spcAft>
              <a:buNone/>
            </a:pPr>
            <a:r>
              <a:t/>
            </a:r>
            <a:endParaRPr sz="2500"/>
          </a:p>
          <a:p>
            <a:pPr indent="0" lvl="0" marL="0" rtl="0" algn="l">
              <a:spcBef>
                <a:spcPts val="0"/>
              </a:spcBef>
              <a:spcAft>
                <a:spcPts val="0"/>
              </a:spcAft>
              <a:buNone/>
            </a:pPr>
            <a:r>
              <a:rPr b="1" lang="en-US" sz="2200"/>
              <a:t>Challenges?</a:t>
            </a:r>
            <a:r>
              <a:rPr lang="en-US" sz="2200"/>
              <a:t> </a:t>
            </a:r>
            <a:endParaRPr sz="2200"/>
          </a:p>
          <a:p>
            <a:pPr indent="-342900" lvl="0" marL="457200" rtl="0" algn="l">
              <a:spcBef>
                <a:spcPts val="0"/>
              </a:spcBef>
              <a:spcAft>
                <a:spcPts val="0"/>
              </a:spcAft>
              <a:buSzPts val="1800"/>
              <a:buChar char="❏"/>
            </a:pPr>
            <a:r>
              <a:rPr lang="en-US" sz="1800"/>
              <a:t>Graph shows structure</a:t>
            </a:r>
            <a:r>
              <a:rPr lang="en-US" sz="1800"/>
              <a:t>—domain</a:t>
            </a:r>
            <a:r>
              <a:rPr lang="en-US" sz="1800"/>
              <a:t> knowledge needed to interpret legal significance </a:t>
            </a:r>
            <a:endParaRPr sz="1800"/>
          </a:p>
          <a:p>
            <a:pPr indent="-342900" lvl="0" marL="457200" rtl="0" algn="l">
              <a:spcBef>
                <a:spcPts val="0"/>
              </a:spcBef>
              <a:spcAft>
                <a:spcPts val="0"/>
              </a:spcAft>
              <a:buSzPts val="1800"/>
              <a:buChar char="❏"/>
            </a:pPr>
            <a:r>
              <a:rPr lang="en-US" sz="1800"/>
              <a:t>Policies are intentionally vague - hard to build a graph of deliberate ambiguity </a:t>
            </a:r>
            <a:endParaRPr sz="1800"/>
          </a:p>
          <a:p>
            <a:pPr indent="-342900" lvl="0" marL="457200" rtl="0" algn="l">
              <a:spcBef>
                <a:spcPts val="0"/>
              </a:spcBef>
              <a:spcAft>
                <a:spcPts val="0"/>
              </a:spcAft>
              <a:buSzPts val="1800"/>
              <a:buChar char="❏"/>
            </a:pPr>
            <a:r>
              <a:rPr lang="en-US" sz="1800"/>
              <a:t>Privacy policies use heterogeneous terminology to describe the same underlying concept</a:t>
            </a:r>
            <a:r>
              <a:rPr lang="en-US" sz="1800"/>
              <a:t> </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rPr b="1" lang="en-US" sz="2200"/>
              <a:t>H</a:t>
            </a:r>
            <a:r>
              <a:rPr b="1" lang="en-US" sz="2200"/>
              <a:t>ow did</a:t>
            </a:r>
            <a:r>
              <a:rPr b="1" lang="en-US" sz="2200"/>
              <a:t> we </a:t>
            </a:r>
            <a:r>
              <a:rPr b="1" lang="en-US" sz="2200"/>
              <a:t>overcome</a:t>
            </a:r>
            <a:r>
              <a:rPr b="1" lang="en-US" sz="2200"/>
              <a:t> it? </a:t>
            </a:r>
            <a:endParaRPr b="1" sz="2200"/>
          </a:p>
          <a:p>
            <a:pPr indent="-342900" lvl="0" marL="457200" rtl="0" algn="l">
              <a:spcBef>
                <a:spcPts val="0"/>
              </a:spcBef>
              <a:spcAft>
                <a:spcPts val="0"/>
              </a:spcAft>
              <a:buSzPts val="1800"/>
              <a:buChar char="❏"/>
            </a:pPr>
            <a:r>
              <a:rPr lang="en-US" sz="1800"/>
              <a:t>Grounded every finding in actual regulatory text </a:t>
            </a:r>
            <a:endParaRPr sz="1800"/>
          </a:p>
          <a:p>
            <a:pPr indent="-342900" lvl="0" marL="457200" rtl="0" algn="l">
              <a:spcBef>
                <a:spcPts val="0"/>
              </a:spcBef>
              <a:spcAft>
                <a:spcPts val="0"/>
              </a:spcAft>
              <a:buSzPts val="1800"/>
              <a:buChar char="❏"/>
            </a:pPr>
            <a:r>
              <a:rPr lang="en-US" sz="1800"/>
              <a:t>Cross-validated across multiple analyses </a:t>
            </a:r>
            <a:endParaRPr sz="1800"/>
          </a:p>
          <a:p>
            <a:pPr indent="-342900" lvl="0" marL="457200" rtl="0" algn="l">
              <a:spcBef>
                <a:spcPts val="0"/>
              </a:spcBef>
              <a:spcAft>
                <a:spcPts val="0"/>
              </a:spcAft>
              <a:buSzPts val="1800"/>
              <a:buChar char="❏"/>
            </a:pPr>
            <a:r>
              <a:rPr lang="en-US" sz="1800"/>
              <a:t>Data normalization </a:t>
            </a:r>
            <a:endParaRPr sz="1800"/>
          </a:p>
          <a:p>
            <a:pPr indent="0" lvl="0" marL="457200" rtl="0" algn="l">
              <a:spcBef>
                <a:spcPts val="0"/>
              </a:spcBef>
              <a:spcAft>
                <a:spcPts val="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p:nvPr/>
        </p:nvSpPr>
        <p:spPr>
          <a:xfrm>
            <a:off x="-1" y="0"/>
            <a:ext cx="12192000" cy="685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257" name="Google Shape;257;p26"/>
          <p:cNvSpPr txBox="1"/>
          <p:nvPr/>
        </p:nvSpPr>
        <p:spPr>
          <a:xfrm>
            <a:off x="-1" y="2497975"/>
            <a:ext cx="12191999" cy="1862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chemeClr val="lt1"/>
                </a:solidFill>
                <a:latin typeface="Inter Black"/>
                <a:ea typeface="Inter Black"/>
                <a:cs typeface="Inter Black"/>
                <a:sym typeface="Inter Black"/>
              </a:rPr>
              <a:t>Thank You!</a:t>
            </a:r>
            <a:endParaRPr b="0" i="0" sz="1400" u="none" cap="none" strike="noStrike">
              <a:solidFill>
                <a:srgbClr val="000000"/>
              </a:solidFill>
              <a:latin typeface="Arial"/>
              <a:ea typeface="Arial"/>
              <a:cs typeface="Arial"/>
              <a:sym typeface="Arial"/>
            </a:endParaRPr>
          </a:p>
        </p:txBody>
      </p:sp>
      <p:pic>
        <p:nvPicPr>
          <p:cNvPr id="258" name="Google Shape;258;p26"/>
          <p:cNvPicPr preferRelativeResize="0"/>
          <p:nvPr/>
        </p:nvPicPr>
        <p:blipFill rotWithShape="1">
          <a:blip r:embed="rId3">
            <a:alphaModFix/>
          </a:blip>
          <a:srcRect b="0" l="0" r="0" t="0"/>
          <a:stretch/>
        </p:blipFill>
        <p:spPr>
          <a:xfrm>
            <a:off x="4906917" y="222054"/>
            <a:ext cx="2378165" cy="552503"/>
          </a:xfrm>
          <a:prstGeom prst="rect">
            <a:avLst/>
          </a:prstGeom>
          <a:noFill/>
          <a:ln>
            <a:noFill/>
          </a:ln>
        </p:spPr>
      </p:pic>
      <p:sp>
        <p:nvSpPr>
          <p:cNvPr id="259" name="Google Shape;259;p26"/>
          <p:cNvSpPr txBox="1"/>
          <p:nvPr>
            <p:ph idx="12" type="sldNum"/>
          </p:nvPr>
        </p:nvSpPr>
        <p:spPr>
          <a:xfrm>
            <a:off x="10998702" y="6273599"/>
            <a:ext cx="991500" cy="5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da9f8ea407_0_49"/>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g3da9f8ea407_0_49"/>
          <p:cNvSpPr txBox="1"/>
          <p:nvPr/>
        </p:nvSpPr>
        <p:spPr>
          <a:xfrm>
            <a:off x="393594" y="826611"/>
            <a:ext cx="10752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3400">
                <a:solidFill>
                  <a:srgbClr val="202122"/>
                </a:solidFill>
              </a:rPr>
              <a:t>References</a:t>
            </a:r>
            <a:endParaRPr b="0" i="0" sz="3400" u="none" cap="none" strike="noStrike">
              <a:solidFill>
                <a:srgbClr val="000000"/>
              </a:solidFill>
              <a:latin typeface="Arial"/>
              <a:ea typeface="Arial"/>
              <a:cs typeface="Arial"/>
              <a:sym typeface="Arial"/>
            </a:endParaRPr>
          </a:p>
        </p:txBody>
      </p:sp>
      <p:sp>
        <p:nvSpPr>
          <p:cNvPr id="266" name="Google Shape;266;g3da9f8ea407_0_49"/>
          <p:cNvSpPr txBox="1"/>
          <p:nvPr/>
        </p:nvSpPr>
        <p:spPr>
          <a:xfrm>
            <a:off x="321550" y="1657475"/>
            <a:ext cx="11486400" cy="48897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lang="en-US" sz="1800"/>
              <a:t>[1] S. Barrett, V. Ramasamy, G. Dorai, and B. Boswell, “Navigating privacy policies with nlp and graph mining: Advancements in user-centric legal document analysis,” in SoutheastCon 2025, pp. 1013–1022, 2025.</a:t>
            </a:r>
            <a:endParaRPr sz="1800"/>
          </a:p>
          <a:p>
            <a:pPr indent="0" lvl="0" marL="0" rtl="0" algn="l">
              <a:lnSpc>
                <a:spcPct val="90000"/>
              </a:lnSpc>
              <a:spcBef>
                <a:spcPts val="1000"/>
              </a:spcBef>
              <a:spcAft>
                <a:spcPts val="0"/>
              </a:spcAft>
              <a:buNone/>
            </a:pPr>
            <a:r>
              <a:rPr lang="en-US" sz="1800"/>
              <a:t>[2] V. Ramasamy, S. Barett, G. Dorai, and J. Zumbach, “Unveiling privacy policy complexity: An exploratory study using graph mining, machine learning, and natural language processing,” in 2025 6th International Conference on Artificial Intelligence, Robotics and Control (AIRC), pp. 514–520, 2025.</a:t>
            </a:r>
            <a:endParaRPr sz="1800"/>
          </a:p>
          <a:p>
            <a:pPr indent="0" lvl="0" marL="0" rtl="0" algn="l">
              <a:lnSpc>
                <a:spcPct val="90000"/>
              </a:lnSpc>
              <a:spcBef>
                <a:spcPts val="1000"/>
              </a:spcBef>
              <a:spcAft>
                <a:spcPts val="0"/>
              </a:spcAft>
              <a:buNone/>
            </a:pPr>
            <a:r>
              <a:rPr lang="en-US" sz="1800"/>
              <a:t>[3] J. Yerby and I. Vaughn, “Deliberately confusing language in terms of service and privacy policy agreements,” Issues in information systems., vol. 23, no. 2, pp. 138–149, 2022.</a:t>
            </a:r>
            <a:endParaRPr sz="1800"/>
          </a:p>
          <a:p>
            <a:pPr indent="0" lvl="0" marL="0" rtl="0" algn="l">
              <a:lnSpc>
                <a:spcPct val="90000"/>
              </a:lnSpc>
              <a:spcBef>
                <a:spcPts val="1000"/>
              </a:spcBef>
              <a:spcAft>
                <a:spcPts val="0"/>
              </a:spcAft>
              <a:buNone/>
            </a:pPr>
            <a:r>
              <a:rPr lang="en-US" sz="1800"/>
              <a:t>[4] Z. Munn, J. Peters, Micah D. C. Stern, C. Tufanaru, A. McArthur, and E. Aromataris, “Systematic review or scoping review? guidance for authors when choosing between a systematic or scoping review approach,” BMC Medical Research Methodology, vol. 18, no. 1, p. 143, 2018.</a:t>
            </a:r>
            <a:endParaRPr sz="1800"/>
          </a:p>
          <a:p>
            <a:pPr indent="0" lvl="0" marL="0" rtl="0" algn="l">
              <a:lnSpc>
                <a:spcPct val="90000"/>
              </a:lnSpc>
              <a:spcBef>
                <a:spcPts val="1000"/>
              </a:spcBef>
              <a:spcAft>
                <a:spcPts val="0"/>
              </a:spcAft>
              <a:buNone/>
            </a:pPr>
            <a:r>
              <a:rPr lang="en-US" sz="1800"/>
              <a:t>[5] H. Cui, R. Trimananda, A. Markopoulou, and S. Jordan, “PoliGraph:Automated privacy policy analysis using knowledge graphs,” in 32nd USENIX Security Symposium (USENIX Security 23), (Anaheim, CA), pp. 1037–1054, USENIX Association, Aug. 2023.</a:t>
            </a:r>
            <a:endParaRPr sz="1800"/>
          </a:p>
          <a:p>
            <a:pPr indent="0" lvl="0" marL="0" rtl="0" algn="l">
              <a:lnSpc>
                <a:spcPct val="90000"/>
              </a:lnSpc>
              <a:spcBef>
                <a:spcPts val="1000"/>
              </a:spcBef>
              <a:spcAft>
                <a:spcPts val="0"/>
              </a:spcAft>
              <a:buNone/>
            </a:pPr>
            <a:r>
              <a:rPr lang="en-US" sz="1800"/>
              <a:t>[6] K. P. Joshi, L. Elluri, and A. Nagar, “An integrated knowledge graph to automate cloud data compliance,” IEEE Access, vol. 8, pp. 148541–148555, 2020.</a:t>
            </a:r>
            <a:endParaRPr sz="1300">
              <a:solidFill>
                <a:schemeClr val="dk1"/>
              </a:solidFill>
              <a:latin typeface="Inter"/>
              <a:ea typeface="Inter"/>
              <a:cs typeface="Inter"/>
              <a:sym typeface="Inter"/>
            </a:endParaRPr>
          </a:p>
        </p:txBody>
      </p:sp>
      <p:sp>
        <p:nvSpPr>
          <p:cNvPr id="267" name="Google Shape;267;g3da9f8ea407_0_49"/>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268" name="Google Shape;268;g3da9f8ea407_0_49"/>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da9f8ea407_0_56"/>
          <p:cNvSpPr/>
          <p:nvPr/>
        </p:nvSpPr>
        <p:spPr>
          <a:xfrm rot="-5400000">
            <a:off x="10840047" y="5505901"/>
            <a:ext cx="1345800" cy="1358400"/>
          </a:xfrm>
          <a:prstGeom prst="corner">
            <a:avLst>
              <a:gd fmla="val 11222" name="adj1"/>
              <a:gd fmla="val 11584" name="adj2"/>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g3da9f8ea407_0_56"/>
          <p:cNvSpPr txBox="1"/>
          <p:nvPr/>
        </p:nvSpPr>
        <p:spPr>
          <a:xfrm>
            <a:off x="393594" y="826611"/>
            <a:ext cx="10752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3400">
                <a:solidFill>
                  <a:srgbClr val="202122"/>
                </a:solidFill>
              </a:rPr>
              <a:t>References</a:t>
            </a:r>
            <a:endParaRPr b="0" i="0" sz="3400" u="none" cap="none" strike="noStrike">
              <a:solidFill>
                <a:srgbClr val="000000"/>
              </a:solidFill>
              <a:latin typeface="Arial"/>
              <a:ea typeface="Arial"/>
              <a:cs typeface="Arial"/>
              <a:sym typeface="Arial"/>
            </a:endParaRPr>
          </a:p>
        </p:txBody>
      </p:sp>
      <p:sp>
        <p:nvSpPr>
          <p:cNvPr id="275" name="Google Shape;275;g3da9f8ea407_0_56"/>
          <p:cNvSpPr txBox="1"/>
          <p:nvPr/>
        </p:nvSpPr>
        <p:spPr>
          <a:xfrm>
            <a:off x="321550" y="1657475"/>
            <a:ext cx="11486400" cy="4386900"/>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1000"/>
              </a:spcBef>
              <a:spcAft>
                <a:spcPts val="0"/>
              </a:spcAft>
              <a:buNone/>
            </a:pPr>
            <a:r>
              <a:rPr lang="en-US" sz="1800"/>
              <a:t>[7] V. Belcheva, T. Ermakova, and B. Fabian, “Understanding website privacy policies—a longitudinal analysis using natural language processing,”Information, vol. 14, no. 11, 2023.</a:t>
            </a:r>
            <a:endParaRPr sz="1800"/>
          </a:p>
          <a:p>
            <a:pPr indent="0" lvl="0" marL="0" rtl="0" algn="l">
              <a:lnSpc>
                <a:spcPct val="90000"/>
              </a:lnSpc>
              <a:spcBef>
                <a:spcPts val="1000"/>
              </a:spcBef>
              <a:spcAft>
                <a:spcPts val="0"/>
              </a:spcAft>
              <a:buNone/>
            </a:pPr>
            <a:r>
              <a:rPr lang="en-US" sz="1800"/>
              <a:t>[8] L. Garza, L. Elluri, A. Piplai, A. Kotal, D. Gupta, and A. Joshi, “Privcomp-kg: Leveraging kg and llm for compliance verification,” in 2024 IEEE 6th International Conference on Trust, Privacy and Security in Intelligent Systems, and Applications (TPS-ISA), pp. 97–106, 2024.</a:t>
            </a:r>
            <a:endParaRPr sz="1800"/>
          </a:p>
          <a:p>
            <a:pPr indent="0" lvl="0" marL="0" rtl="0" algn="l">
              <a:lnSpc>
                <a:spcPct val="90000"/>
              </a:lnSpc>
              <a:spcBef>
                <a:spcPts val="1000"/>
              </a:spcBef>
              <a:spcAft>
                <a:spcPts val="0"/>
              </a:spcAft>
              <a:buNone/>
            </a:pPr>
            <a:r>
              <a:rPr lang="en-US" sz="1800"/>
              <a:t>[9] H. Chowdhury, M. I. Morsalin, R. S. Azade, and V. Ramasamy, “Graphdpr: A privacy policy analysis framework using knowledge graphs and topic modeling.,” in Social Networks Analysis and Mining - 17th International Conference, ASONAM 2025, Proceedings, vol. 16322, pp. pp.422–430, 2026.</a:t>
            </a:r>
            <a:endParaRPr sz="1800"/>
          </a:p>
          <a:p>
            <a:pPr indent="0" lvl="0" marL="0" rtl="0" algn="l">
              <a:lnSpc>
                <a:spcPct val="90000"/>
              </a:lnSpc>
              <a:spcBef>
                <a:spcPts val="1000"/>
              </a:spcBef>
              <a:spcAft>
                <a:spcPts val="0"/>
              </a:spcAft>
              <a:buNone/>
            </a:pPr>
            <a:r>
              <a:rPr lang="en-US" sz="1800"/>
              <a:t>[10] S. of California; Department of Justice, “California consumer privacy act,” in oag.ca.gov, 2024.</a:t>
            </a:r>
            <a:endParaRPr sz="1800"/>
          </a:p>
          <a:p>
            <a:pPr indent="0" lvl="0" marL="0" rtl="0" algn="l">
              <a:lnSpc>
                <a:spcPct val="90000"/>
              </a:lnSpc>
              <a:spcBef>
                <a:spcPts val="1000"/>
              </a:spcBef>
              <a:spcAft>
                <a:spcPts val="0"/>
              </a:spcAft>
              <a:buNone/>
            </a:pPr>
            <a:r>
              <a:rPr lang="en-US" sz="1800"/>
              <a:t>[11] U. D. of Health and H. Services, “Health information privacy,” in HHS.gov, 2024.</a:t>
            </a:r>
            <a:endParaRPr sz="1800"/>
          </a:p>
          <a:p>
            <a:pPr indent="0" lvl="0" marL="0" rtl="0" algn="l">
              <a:lnSpc>
                <a:spcPct val="90000"/>
              </a:lnSpc>
              <a:spcBef>
                <a:spcPts val="1000"/>
              </a:spcBef>
              <a:spcAft>
                <a:spcPts val="0"/>
              </a:spcAft>
              <a:buNone/>
            </a:pPr>
            <a:r>
              <a:rPr lang="en-US" sz="1800"/>
              <a:t>[12] F. T. Commission, “How to comply with the privacy of consumer financial information rule of the gramm-leach-bliley act,” in </a:t>
            </a:r>
            <a:r>
              <a:rPr lang="en-US" sz="1800" u="sng">
                <a:solidFill>
                  <a:schemeClr val="hlink"/>
                </a:solidFill>
                <a:hlinkClick r:id="rId3"/>
              </a:rPr>
              <a:t>ftc.gov</a:t>
            </a:r>
            <a:r>
              <a:rPr lang="en-US" sz="1800"/>
              <a:t>, 1999.</a:t>
            </a:r>
            <a:endParaRPr sz="1800"/>
          </a:p>
          <a:p>
            <a:pPr indent="0" lvl="0" marL="0" rtl="0" algn="l">
              <a:lnSpc>
                <a:spcPct val="90000"/>
              </a:lnSpc>
              <a:spcBef>
                <a:spcPts val="1000"/>
              </a:spcBef>
              <a:spcAft>
                <a:spcPts val="0"/>
              </a:spcAft>
              <a:buNone/>
            </a:pPr>
            <a:r>
              <a:t/>
            </a:r>
            <a:endParaRPr sz="1300"/>
          </a:p>
        </p:txBody>
      </p:sp>
      <p:sp>
        <p:nvSpPr>
          <p:cNvPr id="276" name="Google Shape;276;g3da9f8ea407_0_56"/>
          <p:cNvSpPr/>
          <p:nvPr/>
        </p:nvSpPr>
        <p:spPr>
          <a:xfrm>
            <a:off x="-167378" y="878068"/>
            <a:ext cx="334800" cy="779400"/>
          </a:xfrm>
          <a:prstGeom prst="rect">
            <a:avLst/>
          </a:prstGeom>
          <a:solidFill>
            <a:srgbClr val="001344"/>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866"/>
              <a:buFont typeface="Arial"/>
              <a:buNone/>
            </a:pPr>
            <a:r>
              <a:t/>
            </a:r>
            <a:endParaRPr b="0" i="0" sz="1866" u="none" cap="none" strike="noStrike">
              <a:solidFill>
                <a:srgbClr val="000000"/>
              </a:solidFill>
              <a:latin typeface="Arial"/>
              <a:ea typeface="Arial"/>
              <a:cs typeface="Arial"/>
              <a:sym typeface="Arial"/>
            </a:endParaRPr>
          </a:p>
        </p:txBody>
      </p:sp>
      <p:sp>
        <p:nvSpPr>
          <p:cNvPr id="277" name="Google Shape;277;g3da9f8ea407_0_56"/>
          <p:cNvSpPr txBox="1"/>
          <p:nvPr>
            <p:ph idx="12" type="sldNum"/>
          </p:nvPr>
        </p:nvSpPr>
        <p:spPr>
          <a:xfrm>
            <a:off x="11258545" y="626288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001344 2">
      <a:dk1>
        <a:srgbClr val="001344"/>
      </a:dk1>
      <a:lt1>
        <a:srgbClr val="FFFFFF"/>
      </a:lt1>
      <a:dk2>
        <a:srgbClr val="44546A"/>
      </a:dk2>
      <a:lt2>
        <a:srgbClr val="E7E6E6"/>
      </a:lt2>
      <a:accent1>
        <a:srgbClr val="001344"/>
      </a:accent1>
      <a:accent2>
        <a:srgbClr val="B9832C"/>
      </a:accent2>
      <a:accent3>
        <a:srgbClr val="A5ACAF"/>
      </a:accent3>
      <a:accent4>
        <a:srgbClr val="FCB116"/>
      </a:accent4>
      <a:accent5>
        <a:srgbClr val="001344"/>
      </a:accent5>
      <a:accent6>
        <a:srgbClr val="D9AC63"/>
      </a:accent6>
      <a:hlink>
        <a:srgbClr val="3E5185"/>
      </a:hlink>
      <a:folHlink>
        <a:srgbClr val="D9AC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2024-07-08T21:05:20Z</dcterms:created>
  <dc:creator>Microsoft Office User</dc:creator>
</cp:coreProperties>
</file>